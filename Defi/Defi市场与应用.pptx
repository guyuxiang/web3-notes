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61" r:id="rId3"/>
    <p:sldId id="266" r:id="rId5"/>
    <p:sldId id="258" r:id="rId6"/>
    <p:sldId id="259" r:id="rId7"/>
    <p:sldId id="260" r:id="rId8"/>
    <p:sldId id="262" r:id="rId9"/>
  </p:sldIdLst>
  <p:sldSz cx="12192000" cy="6858000"/>
  <p:notesSz cx="6858000" cy="9144000"/>
  <p:custDataLst>
    <p:tags r:id="rId1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8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28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gs" Target="tags/tag75.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TVL 是 "Total Value Locked" 的缩写，中文常译为 "锁定总价值"。它是 DeFi（去中心化金融）领域的一个重要指标，用于衡量某个 DeFi 协议或平台中锁定的总资金量。具体来说，TVL 表示用户在这个平台上存入的加密资产的总价值，这些资产通常用于提供流动性、借贷、质押等。</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正文">
    <p:bg>
      <p:bgPr>
        <a:solidFill>
          <a:srgbClr val="FEFEFE"/>
        </a:solidFill>
        <a:effectLst/>
      </p:bgPr>
    </p:bg>
    <p:spTree>
      <p:nvGrpSpPr>
        <p:cNvPr id="1" name=""/>
        <p:cNvGrpSpPr/>
        <p:nvPr/>
      </p:nvGrpSpPr>
      <p:grpSpPr>
        <a:xfrm>
          <a:off x="0" y="0"/>
          <a:ext cx="0" cy="0"/>
          <a:chOff x="0" y="0"/>
          <a:chExt cx="0" cy="0"/>
        </a:xfrm>
      </p:grpSpPr>
      <p:sp>
        <p:nvSpPr>
          <p:cNvPr id="30" name="幻灯片编号"/>
          <p:cNvSpPr txBox="1">
            <a:spLocks noGrp="1"/>
          </p:cNvSpPr>
          <p:nvPr>
            <p:ph type="sldNum" sz="quarter" idx="2"/>
          </p:nvPr>
        </p:nvSpPr>
        <p:spPr>
          <a:xfrm>
            <a:off x="11725761" y="6594519"/>
            <a:ext cx="348475" cy="190745"/>
          </a:xfrm>
          <a:prstGeom prst="rect">
            <a:avLst/>
          </a:prstGeom>
        </p:spPr>
        <p:txBody>
          <a:bodyPr/>
          <a:lstStyle>
            <a:lvl1pPr>
              <a:defRPr sz="1000">
                <a:solidFill>
                  <a:srgbClr val="2864FF"/>
                </a:solidFill>
              </a:defRPr>
            </a:lvl1pPr>
          </a:lstStyle>
          <a:p>
            <a:fld id="{86CB4B4D-7CA3-9044-876B-883B54F8677D}" type="slidenum">
              <a:rPr lang="en-US" altLang="zh-CN" smtClean="0"/>
            </a:fld>
            <a:endParaRPr lang="zh-CN" altLang="en-US" dirty="0"/>
          </a:p>
        </p:txBody>
      </p:sp>
      <p:pic>
        <p:nvPicPr>
          <p:cNvPr id="6" name="图像" descr="图像"/>
          <p:cNvPicPr>
            <a:picLocks noChangeAspect="1"/>
          </p:cNvPicPr>
          <p:nvPr userDrawn="1"/>
        </p:nvPicPr>
        <p:blipFill>
          <a:blip r:embed="rId2"/>
          <a:stretch>
            <a:fillRect/>
          </a:stretch>
        </p:blipFill>
        <p:spPr>
          <a:xfrm>
            <a:off x="-6929" y="-6659"/>
            <a:ext cx="826658" cy="826658"/>
          </a:xfrm>
          <a:prstGeom prst="rect">
            <a:avLst/>
          </a:prstGeom>
          <a:ln w="12700">
            <a:miter lim="400000"/>
            <a:headEnd/>
            <a:tailEnd/>
          </a:ln>
        </p:spPr>
      </p:pic>
      <p:sp>
        <p:nvSpPr>
          <p:cNvPr id="9" name="文本占位符 8"/>
          <p:cNvSpPr>
            <a:spLocks noGrp="1"/>
          </p:cNvSpPr>
          <p:nvPr>
            <p:ph type="body" sz="quarter" idx="10" hasCustomPrompt="1"/>
          </p:nvPr>
        </p:nvSpPr>
        <p:spPr>
          <a:xfrm>
            <a:off x="930063" y="176352"/>
            <a:ext cx="2231490" cy="376237"/>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Pct val="100000"/>
              <a:buFont typeface="Arial" panose="020B0604020202020204"/>
              <a:buNone/>
              <a:defRPr sz="2500">
                <a:solidFill>
                  <a:schemeClr val="accent3"/>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a:buNone/>
              <a:defRPr/>
            </a:pPr>
            <a:r>
              <a:rPr lang="zh-CN" altLang="en-US" sz="2400" dirty="0">
                <a:latin typeface="微软雅黑" panose="020B0503020204020204" charset="-122"/>
                <a:ea typeface="微软雅黑" panose="020B0503020204020204" charset="-122"/>
              </a:rPr>
              <a:t>此处添加标题</a:t>
            </a:r>
            <a:endParaRPr lang="zh-CN" altLang="en-US" sz="2400" dirty="0">
              <a:latin typeface="微软雅黑" panose="020B0503020204020204" charset="-122"/>
              <a:ea typeface="微软雅黑" panose="020B0503020204020204" charset="-122"/>
            </a:endParaRPr>
          </a:p>
        </p:txBody>
      </p:sp>
      <p:sp>
        <p:nvSpPr>
          <p:cNvPr id="13" name="文本占位符 8"/>
          <p:cNvSpPr>
            <a:spLocks noGrp="1"/>
          </p:cNvSpPr>
          <p:nvPr>
            <p:ph type="body" sz="quarter" idx="11" hasCustomPrompt="1"/>
          </p:nvPr>
        </p:nvSpPr>
        <p:spPr>
          <a:xfrm>
            <a:off x="3161553" y="230503"/>
            <a:ext cx="2461746" cy="376237"/>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Pct val="100000"/>
              <a:buFont typeface="Arial" panose="020B0604020202020204"/>
              <a:buNone/>
              <a:defRPr lang="en-US" altLang="zh-CN" sz="2000" smtClean="0">
                <a:solidFill>
                  <a:srgbClr val="2864FF"/>
                </a:solidFill>
                <a:ea typeface="微软雅黑" panose="020B0503020204020204" charset="-122"/>
                <a:sym typeface="Source Han Sans CN Medium"/>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a:buNone/>
              <a:defRPr/>
            </a:pPr>
            <a:r>
              <a:rPr lang="en-US" altLang="zh-CN" sz="2000" dirty="0">
                <a:solidFill>
                  <a:srgbClr val="2864FF"/>
                </a:solidFill>
                <a:latin typeface="+mn-lt"/>
                <a:ea typeface="微软雅黑" panose="020B0503020204020204" charset="-122"/>
                <a:sym typeface="Source Han Sans CN Medium"/>
              </a:rPr>
              <a:t>/</a:t>
            </a:r>
            <a:r>
              <a:rPr lang="zh-CN" altLang="en-US" sz="2000" dirty="0">
                <a:solidFill>
                  <a:srgbClr val="2864FF"/>
                </a:solidFill>
                <a:latin typeface="+mn-lt"/>
                <a:ea typeface="微软雅黑" panose="020B0503020204020204" charset="-122"/>
                <a:sym typeface="Source Han Sans CN Medium"/>
              </a:rPr>
              <a:t>此处添加副标题</a:t>
            </a:r>
            <a:endParaRPr lang="zh-CN" altLang="en-US" sz="2000" dirty="0">
              <a:solidFill>
                <a:srgbClr val="2864FF"/>
              </a:solidFill>
              <a:latin typeface="+mn-lt"/>
              <a:ea typeface="微软雅黑" panose="020B0503020204020204" charset="-122"/>
              <a:sym typeface="Source Han Sans CN Medium"/>
            </a:endParaRPr>
          </a:p>
        </p:txBody>
      </p:sp>
      <p:sp>
        <p:nvSpPr>
          <p:cNvPr id="11" name="文本占位符 10"/>
          <p:cNvSpPr>
            <a:spLocks noGrp="1"/>
          </p:cNvSpPr>
          <p:nvPr>
            <p:ph type="body" sz="quarter" idx="12" hasCustomPrompt="1"/>
          </p:nvPr>
        </p:nvSpPr>
        <p:spPr>
          <a:xfrm>
            <a:off x="930275" y="1130300"/>
            <a:ext cx="7185025" cy="432493"/>
          </a:xfrm>
          <a:prstGeom prst="rect">
            <a:avLst/>
          </a:prstGeom>
        </p:spPr>
        <p:txBody>
          <a:bodyPr/>
          <a:lstStyle>
            <a:lvl1pPr>
              <a:defRPr sz="1600">
                <a:solidFill>
                  <a:schemeClr val="bg2"/>
                </a:solidFill>
              </a:defRPr>
            </a:lvl1pPr>
            <a:lvl2pPr>
              <a:defRPr sz="1800">
                <a:solidFill>
                  <a:schemeClr val="accent1"/>
                </a:solidFill>
              </a:defRPr>
            </a:lvl2pPr>
            <a:lvl3pPr>
              <a:defRPr sz="1600">
                <a:solidFill>
                  <a:schemeClr val="accent1"/>
                </a:solidFill>
              </a:defRPr>
            </a:lvl3pPr>
            <a:lvl4pPr>
              <a:defRPr sz="1400">
                <a:solidFill>
                  <a:schemeClr val="accent1"/>
                </a:solidFill>
              </a:defRPr>
            </a:lvl4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a:buNone/>
              <a:defRPr/>
            </a:pPr>
            <a:r>
              <a:rPr kumimoji="1" lang="zh-CN" altLang="en-US" dirty="0"/>
              <a:t>这里是内容</a:t>
            </a:r>
            <a:endParaRPr kumimoji="1" lang="zh-CN" altLang="en-US" dirty="0"/>
          </a:p>
        </p:txBody>
      </p:sp>
      <p:sp>
        <p:nvSpPr>
          <p:cNvPr id="7" name="矩形 6"/>
          <p:cNvSpPr/>
          <p:nvPr userDrawn="1"/>
        </p:nvSpPr>
        <p:spPr>
          <a:xfrm rot="16200000">
            <a:off x="6531369" y="-834939"/>
            <a:ext cx="374080" cy="1008418"/>
          </a:xfrm>
          <a:prstGeom prst="rect">
            <a:avLst/>
          </a:prstGeom>
          <a:gradFill flip="none" rotWithShape="1">
            <a:gsLst>
              <a:gs pos="0">
                <a:srgbClr val="FFC000"/>
              </a:gs>
              <a:gs pos="100000">
                <a:srgbClr val="FF9001"/>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20204" pitchFamily="34" charset="0"/>
              <a:cs typeface="Arial" panose="020B0604020202020204" pitchFamily="34" charset="0"/>
            </a:endParaRPr>
          </a:p>
        </p:txBody>
      </p:sp>
      <p:sp>
        <p:nvSpPr>
          <p:cNvPr id="8" name="矩形 7"/>
          <p:cNvSpPr/>
          <p:nvPr userDrawn="1"/>
        </p:nvSpPr>
        <p:spPr>
          <a:xfrm rot="16200000">
            <a:off x="2287592" y="-836153"/>
            <a:ext cx="374080" cy="1008418"/>
          </a:xfrm>
          <a:prstGeom prst="rect">
            <a:avLst/>
          </a:prstGeom>
          <a:gradFill flip="none" rotWithShape="1">
            <a:gsLst>
              <a:gs pos="0">
                <a:srgbClr val="769BFF"/>
              </a:gs>
              <a:gs pos="100000">
                <a:srgbClr val="2864FF"/>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20204" pitchFamily="34" charset="0"/>
              <a:cs typeface="Arial" panose="020B0604020202020204" pitchFamily="34" charset="0"/>
            </a:endParaRPr>
          </a:p>
        </p:txBody>
      </p:sp>
      <p:sp>
        <p:nvSpPr>
          <p:cNvPr id="10" name="矩形 9"/>
          <p:cNvSpPr/>
          <p:nvPr userDrawn="1"/>
        </p:nvSpPr>
        <p:spPr>
          <a:xfrm rot="16200000">
            <a:off x="4406966" y="-836153"/>
            <a:ext cx="374080" cy="1008418"/>
          </a:xfrm>
          <a:prstGeom prst="rect">
            <a:avLst/>
          </a:prstGeom>
          <a:solidFill>
            <a:srgbClr val="769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20204" pitchFamily="34" charset="0"/>
              <a:cs typeface="Arial" panose="020B0604020202020204" pitchFamily="34" charset="0"/>
            </a:endParaRPr>
          </a:p>
        </p:txBody>
      </p:sp>
      <p:sp>
        <p:nvSpPr>
          <p:cNvPr id="12" name="矩形 11"/>
          <p:cNvSpPr/>
          <p:nvPr userDrawn="1"/>
        </p:nvSpPr>
        <p:spPr>
          <a:xfrm rot="16200000">
            <a:off x="3347279" y="-836153"/>
            <a:ext cx="374080" cy="1008418"/>
          </a:xfrm>
          <a:prstGeom prst="rect">
            <a:avLst/>
          </a:prstGeom>
          <a:solidFill>
            <a:srgbClr val="286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20204" pitchFamily="34" charset="0"/>
              <a:cs typeface="Arial" panose="020B0604020202020204" pitchFamily="34" charset="0"/>
            </a:endParaRPr>
          </a:p>
        </p:txBody>
      </p:sp>
      <p:sp>
        <p:nvSpPr>
          <p:cNvPr id="14" name="矩形 13"/>
          <p:cNvSpPr/>
          <p:nvPr userDrawn="1"/>
        </p:nvSpPr>
        <p:spPr>
          <a:xfrm rot="16200000">
            <a:off x="7591056" y="-834939"/>
            <a:ext cx="374080" cy="1008418"/>
          </a:xfrm>
          <a:prstGeom prst="rect">
            <a:avLst/>
          </a:prstGeom>
          <a:solidFill>
            <a:srgbClr val="FF9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20204" pitchFamily="34" charset="0"/>
              <a:cs typeface="Arial" panose="020B0604020202020204" pitchFamily="34" charset="0"/>
            </a:endParaRPr>
          </a:p>
        </p:txBody>
      </p:sp>
      <p:sp>
        <p:nvSpPr>
          <p:cNvPr id="15" name="矩形 14"/>
          <p:cNvSpPr/>
          <p:nvPr userDrawn="1"/>
        </p:nvSpPr>
        <p:spPr>
          <a:xfrm rot="16200000">
            <a:off x="8650743" y="-834939"/>
            <a:ext cx="374080" cy="100841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20204" pitchFamily="34" charset="0"/>
              <a:cs typeface="Arial" panose="020B0604020202020204" pitchFamily="34" charset="0"/>
            </a:endParaRPr>
          </a:p>
        </p:txBody>
      </p:sp>
      <p:sp>
        <p:nvSpPr>
          <p:cNvPr id="16" name="矩形 15"/>
          <p:cNvSpPr/>
          <p:nvPr userDrawn="1"/>
        </p:nvSpPr>
        <p:spPr>
          <a:xfrm rot="16200000">
            <a:off x="5466653" y="-836153"/>
            <a:ext cx="374080" cy="1008418"/>
          </a:xfrm>
          <a:prstGeom prst="rect">
            <a:avLst/>
          </a:prstGeom>
          <a:solidFill>
            <a:srgbClr val="0663FF">
              <a:alpha val="50000"/>
            </a:srgbClr>
          </a:solidFill>
          <a:ln>
            <a:noFill/>
          </a:ln>
          <a:effectLst>
            <a:outerShdw blurRad="469900" sx="102000" sy="102000" algn="ctr" rotWithShape="0">
              <a:srgbClr val="0600F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charset="-122"/>
              <a:ea typeface="微软雅黑" panose="020B0503020204020204" charset="-122"/>
            </a:endParaRPr>
          </a:p>
        </p:txBody>
      </p:sp>
      <p:sp>
        <p:nvSpPr>
          <p:cNvPr id="17" name="矩形 16"/>
          <p:cNvSpPr/>
          <p:nvPr userDrawn="1"/>
        </p:nvSpPr>
        <p:spPr>
          <a:xfrm rot="16200000">
            <a:off x="9710430" y="-834939"/>
            <a:ext cx="374080" cy="1008418"/>
          </a:xfrm>
          <a:prstGeom prst="rect">
            <a:avLst/>
          </a:prstGeom>
          <a:solidFill>
            <a:srgbClr val="FF9001">
              <a:alpha val="50000"/>
            </a:srgbClr>
          </a:solidFill>
          <a:ln>
            <a:noFill/>
          </a:ln>
          <a:effectLst>
            <a:outerShdw blurRad="469900" sx="102000" sy="102000" algn="ctr" rotWithShape="0">
              <a:srgbClr val="FF9001">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charset="-122"/>
              <a:ea typeface="微软雅黑" panose="020B0503020204020204" charset="-122"/>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2.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image" Target="../media/image9.png"/><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3" Type="http://schemas.openxmlformats.org/officeDocument/2006/relationships/slideLayout" Target="../slideLayouts/slideLayout12.xml"/><Relationship Id="rId12" Type="http://schemas.openxmlformats.org/officeDocument/2006/relationships/image" Target="../media/image12.png"/><Relationship Id="rId11" Type="http://schemas.openxmlformats.org/officeDocument/2006/relationships/image" Target="../media/image11.png"/><Relationship Id="rId10" Type="http://schemas.openxmlformats.org/officeDocument/2006/relationships/image" Target="../media/image10.png"/><Relationship Id="rId1" Type="http://schemas.openxmlformats.org/officeDocument/2006/relationships/tags" Target="../tags/tag6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3.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tags" Target="../tags/tag7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930275" y="176530"/>
            <a:ext cx="2649855" cy="375920"/>
          </a:xfrm>
        </p:spPr>
        <p:txBody>
          <a:bodyPr>
            <a:noAutofit/>
          </a:bodyPr>
          <a:lstStyle/>
          <a:p>
            <a:r>
              <a:rPr lang="zh-CN" altLang="en-US" sz="2800" dirty="0">
                <a:latin typeface="+mj-ea"/>
                <a:ea typeface="+mj-ea"/>
                <a:cs typeface="+mn-ea"/>
                <a:sym typeface="+mn-lt"/>
              </a:rPr>
              <a:t>Web3</a:t>
            </a:r>
            <a:r>
              <a:rPr lang="zh-CN" altLang="en-US" sz="2800" dirty="0">
                <a:latin typeface="+mj-ea"/>
                <a:ea typeface="+mj-ea"/>
                <a:cs typeface="+mn-ea"/>
                <a:sym typeface="+mn-lt"/>
              </a:rPr>
              <a:t>市场</a:t>
            </a:r>
            <a:endParaRPr lang="zh-CN" altLang="en-US" sz="2800" dirty="0">
              <a:latin typeface="+mj-ea"/>
              <a:ea typeface="+mj-ea"/>
              <a:cs typeface="+mn-ea"/>
              <a:sym typeface="+mn-lt"/>
            </a:endParaRPr>
          </a:p>
        </p:txBody>
      </p:sp>
      <p:sp>
        <p:nvSpPr>
          <p:cNvPr id="9" name="矩形 8"/>
          <p:cNvSpPr/>
          <p:nvPr/>
        </p:nvSpPr>
        <p:spPr>
          <a:xfrm rot="16200000">
            <a:off x="6531369" y="-834939"/>
            <a:ext cx="374080" cy="1008418"/>
          </a:xfrm>
          <a:prstGeom prst="rect">
            <a:avLst/>
          </a:prstGeom>
          <a:gradFill flip="none" rotWithShape="1">
            <a:gsLst>
              <a:gs pos="0">
                <a:srgbClr val="FFC000"/>
              </a:gs>
              <a:gs pos="100000">
                <a:srgbClr val="FF9001"/>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20204" pitchFamily="34" charset="0"/>
              <a:cs typeface="Arial" panose="020B0604020202020204" pitchFamily="34" charset="0"/>
            </a:endParaRPr>
          </a:p>
        </p:txBody>
      </p:sp>
      <p:sp>
        <p:nvSpPr>
          <p:cNvPr id="10" name="矩形 9"/>
          <p:cNvSpPr/>
          <p:nvPr/>
        </p:nvSpPr>
        <p:spPr>
          <a:xfrm rot="16200000">
            <a:off x="2287592" y="-836153"/>
            <a:ext cx="374080" cy="1008418"/>
          </a:xfrm>
          <a:prstGeom prst="rect">
            <a:avLst/>
          </a:prstGeom>
          <a:gradFill flip="none" rotWithShape="1">
            <a:gsLst>
              <a:gs pos="0">
                <a:srgbClr val="769BFF"/>
              </a:gs>
              <a:gs pos="100000">
                <a:srgbClr val="2864FF"/>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20204" pitchFamily="34" charset="0"/>
              <a:cs typeface="Arial" panose="020B0604020202020204" pitchFamily="34" charset="0"/>
            </a:endParaRPr>
          </a:p>
        </p:txBody>
      </p:sp>
      <p:sp>
        <p:nvSpPr>
          <p:cNvPr id="11" name="矩形 10"/>
          <p:cNvSpPr/>
          <p:nvPr/>
        </p:nvSpPr>
        <p:spPr>
          <a:xfrm rot="16200000">
            <a:off x="4406966" y="-836153"/>
            <a:ext cx="374080" cy="1008418"/>
          </a:xfrm>
          <a:prstGeom prst="rect">
            <a:avLst/>
          </a:prstGeom>
          <a:solidFill>
            <a:srgbClr val="769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20204" pitchFamily="34" charset="0"/>
              <a:cs typeface="Arial" panose="020B0604020202020204" pitchFamily="34" charset="0"/>
            </a:endParaRPr>
          </a:p>
        </p:txBody>
      </p:sp>
      <p:sp>
        <p:nvSpPr>
          <p:cNvPr id="12" name="矩形 11"/>
          <p:cNvSpPr/>
          <p:nvPr/>
        </p:nvSpPr>
        <p:spPr>
          <a:xfrm rot="16200000">
            <a:off x="3347279" y="-836153"/>
            <a:ext cx="374080" cy="1008418"/>
          </a:xfrm>
          <a:prstGeom prst="rect">
            <a:avLst/>
          </a:prstGeom>
          <a:solidFill>
            <a:srgbClr val="286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20204" pitchFamily="34" charset="0"/>
              <a:cs typeface="Arial" panose="020B0604020202020204" pitchFamily="34" charset="0"/>
            </a:endParaRPr>
          </a:p>
        </p:txBody>
      </p:sp>
      <p:sp>
        <p:nvSpPr>
          <p:cNvPr id="13" name="矩形 12"/>
          <p:cNvSpPr/>
          <p:nvPr/>
        </p:nvSpPr>
        <p:spPr>
          <a:xfrm rot="16200000">
            <a:off x="7591056" y="-834939"/>
            <a:ext cx="374080" cy="1008418"/>
          </a:xfrm>
          <a:prstGeom prst="rect">
            <a:avLst/>
          </a:prstGeom>
          <a:solidFill>
            <a:srgbClr val="FF9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20204" pitchFamily="34" charset="0"/>
              <a:cs typeface="Arial" panose="020B0604020202020204" pitchFamily="34" charset="0"/>
            </a:endParaRPr>
          </a:p>
        </p:txBody>
      </p:sp>
      <p:sp>
        <p:nvSpPr>
          <p:cNvPr id="14" name="矩形 13"/>
          <p:cNvSpPr/>
          <p:nvPr/>
        </p:nvSpPr>
        <p:spPr>
          <a:xfrm rot="16200000">
            <a:off x="8650743" y="-834939"/>
            <a:ext cx="374080" cy="100841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20204" pitchFamily="34" charset="0"/>
              <a:cs typeface="Arial" panose="020B0604020202020204" pitchFamily="34" charset="0"/>
            </a:endParaRPr>
          </a:p>
        </p:txBody>
      </p:sp>
      <p:sp>
        <p:nvSpPr>
          <p:cNvPr id="15" name="矩形 14"/>
          <p:cNvSpPr/>
          <p:nvPr/>
        </p:nvSpPr>
        <p:spPr>
          <a:xfrm rot="16200000">
            <a:off x="5466653" y="-836153"/>
            <a:ext cx="374080" cy="1008418"/>
          </a:xfrm>
          <a:prstGeom prst="rect">
            <a:avLst/>
          </a:prstGeom>
          <a:solidFill>
            <a:srgbClr val="0663FF">
              <a:alpha val="50000"/>
            </a:srgbClr>
          </a:solidFill>
          <a:ln>
            <a:noFill/>
          </a:ln>
          <a:effectLst>
            <a:outerShdw blurRad="469900" sx="102000" sy="102000" algn="ctr" rotWithShape="0">
              <a:srgbClr val="0600F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charset="-122"/>
              <a:ea typeface="微软雅黑" panose="020B0503020204020204" charset="-122"/>
            </a:endParaRPr>
          </a:p>
        </p:txBody>
      </p:sp>
      <p:sp>
        <p:nvSpPr>
          <p:cNvPr id="16" name="矩形 15"/>
          <p:cNvSpPr/>
          <p:nvPr/>
        </p:nvSpPr>
        <p:spPr>
          <a:xfrm rot="16200000">
            <a:off x="9710430" y="-834939"/>
            <a:ext cx="374080" cy="1008418"/>
          </a:xfrm>
          <a:prstGeom prst="rect">
            <a:avLst/>
          </a:prstGeom>
          <a:solidFill>
            <a:srgbClr val="FF9001">
              <a:alpha val="50000"/>
            </a:srgbClr>
          </a:solidFill>
          <a:ln>
            <a:noFill/>
          </a:ln>
          <a:effectLst>
            <a:outerShdw blurRad="469900" sx="102000" sy="102000" algn="ctr" rotWithShape="0">
              <a:srgbClr val="FF9001">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charset="-122"/>
              <a:ea typeface="微软雅黑" panose="020B0503020204020204" charset="-122"/>
            </a:endParaRPr>
          </a:p>
        </p:txBody>
      </p:sp>
      <p:sp>
        <p:nvSpPr>
          <p:cNvPr id="7" name="文本框 6"/>
          <p:cNvSpPr txBox="1"/>
          <p:nvPr/>
        </p:nvSpPr>
        <p:spPr>
          <a:xfrm>
            <a:off x="908050" y="690245"/>
            <a:ext cx="10266680" cy="230568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285750" indent="-285750" algn="l">
              <a:lnSpc>
                <a:spcPct val="150000"/>
              </a:lnSpc>
              <a:buClr>
                <a:srgbClr val="FF9001"/>
              </a:buClr>
              <a:buFont typeface="Wingdings" panose="05000000000000000000" pitchFamily="2" charset="2"/>
              <a:buChar char="ü"/>
              <a:defRPr sz="1400"/>
            </a:pPr>
            <a:r>
              <a:rPr lang="zh-CN" altLang="en-US" sz="1600">
                <a:solidFill>
                  <a:schemeClr val="tx2">
                    <a:lumMod val="75000"/>
                  </a:schemeClr>
                </a:solidFill>
                <a:latin typeface="Arial" panose="020B0604020202020204" pitchFamily="34" charset="0"/>
                <a:cs typeface="Arial" panose="020B0604020202020204" pitchFamily="34" charset="0"/>
              </a:rPr>
              <a:t>随着 BTC ETF</a:t>
            </a:r>
            <a:r>
              <a:rPr lang="en-US" altLang="zh-CN" sz="1600">
                <a:solidFill>
                  <a:schemeClr val="tx2">
                    <a:lumMod val="75000"/>
                  </a:schemeClr>
                </a:solidFill>
                <a:latin typeface="Arial" panose="020B0604020202020204" pitchFamily="34" charset="0"/>
                <a:cs typeface="Arial" panose="020B0604020202020204" pitchFamily="34" charset="0"/>
              </a:rPr>
              <a:t>(美国现货比特币交易平台交易基金)</a:t>
            </a:r>
            <a:r>
              <a:rPr lang="zh-CN" altLang="en-US" sz="1600">
                <a:solidFill>
                  <a:schemeClr val="tx2">
                    <a:lumMod val="75000"/>
                  </a:schemeClr>
                </a:solidFill>
                <a:latin typeface="Arial" panose="020B0604020202020204" pitchFamily="34" charset="0"/>
                <a:cs typeface="Arial" panose="020B0604020202020204" pitchFamily="34" charset="0"/>
              </a:rPr>
              <a:t> 的通过、BTC 减半以及 ETH ETF 的落地，越来越多的国家将加密货币纳入监管范畴，更多的个人和机构资金正在涌入加密市场。截至 8月，加密市场总规模达2万亿美元相比去年同期增长了</a:t>
            </a:r>
            <a:r>
              <a:rPr lang="en-US" altLang="zh-CN" sz="1600">
                <a:solidFill>
                  <a:schemeClr val="tx2">
                    <a:lumMod val="75000"/>
                  </a:schemeClr>
                </a:solidFill>
                <a:latin typeface="Arial" panose="020B0604020202020204" pitchFamily="34" charset="0"/>
                <a:cs typeface="Arial" panose="020B0604020202020204" pitchFamily="34" charset="0"/>
              </a:rPr>
              <a:t>100%</a:t>
            </a:r>
            <a:r>
              <a:rPr lang="zh-CN" altLang="en-US" sz="1600">
                <a:solidFill>
                  <a:schemeClr val="tx2">
                    <a:lumMod val="75000"/>
                  </a:schemeClr>
                </a:solidFill>
                <a:latin typeface="Arial" panose="020B0604020202020204" pitchFamily="34" charset="0"/>
                <a:cs typeface="Arial" panose="020B0604020202020204" pitchFamily="34" charset="0"/>
              </a:rPr>
              <a:t>，日交易额达到1000亿美元</a:t>
            </a:r>
            <a:r>
              <a:rPr lang="zh-CN" altLang="en-US" sz="1600">
                <a:solidFill>
                  <a:schemeClr val="tx2">
                    <a:lumMod val="75000"/>
                  </a:schemeClr>
                </a:solidFill>
                <a:latin typeface="Arial" panose="020B0604020202020204" pitchFamily="34" charset="0"/>
                <a:cs typeface="Arial" panose="020B0604020202020204" pitchFamily="34" charset="0"/>
                <a:sym typeface="+mn-ea"/>
              </a:rPr>
              <a:t>，</a:t>
            </a:r>
            <a:r>
              <a:rPr lang="zh-CN" altLang="en-US" sz="1600">
                <a:solidFill>
                  <a:schemeClr val="tx2">
                    <a:lumMod val="75000"/>
                  </a:schemeClr>
                </a:solidFill>
                <a:latin typeface="Arial" panose="020B0604020202020204" pitchFamily="34" charset="0"/>
                <a:cs typeface="Arial" panose="020B0604020202020204" pitchFamily="34" charset="0"/>
                <a:sym typeface="+mn-ea"/>
              </a:rPr>
              <a:t>高于沪深两市</a:t>
            </a:r>
            <a:r>
              <a:rPr lang="en-US" altLang="zh-CN" sz="1600">
                <a:solidFill>
                  <a:schemeClr val="tx2">
                    <a:lumMod val="75000"/>
                  </a:schemeClr>
                </a:solidFill>
                <a:latin typeface="Arial" panose="020B0604020202020204" pitchFamily="34" charset="0"/>
                <a:cs typeface="Arial" panose="020B0604020202020204" pitchFamily="34" charset="0"/>
                <a:sym typeface="+mn-ea"/>
              </a:rPr>
              <a:t>8</a:t>
            </a:r>
            <a:r>
              <a:rPr lang="zh-CN" altLang="en-US" sz="1600">
                <a:solidFill>
                  <a:schemeClr val="tx2">
                    <a:lumMod val="75000"/>
                  </a:schemeClr>
                </a:solidFill>
                <a:latin typeface="Arial" panose="020B0604020202020204" pitchFamily="34" charset="0"/>
                <a:cs typeface="Arial" panose="020B0604020202020204" pitchFamily="34" charset="0"/>
                <a:sym typeface="+mn-ea"/>
              </a:rPr>
              <a:t>月日均成交额</a:t>
            </a:r>
            <a:r>
              <a:rPr lang="en-US" altLang="zh-CN" sz="1600">
                <a:solidFill>
                  <a:schemeClr val="tx2">
                    <a:lumMod val="75000"/>
                  </a:schemeClr>
                </a:solidFill>
                <a:latin typeface="Arial" panose="020B0604020202020204" pitchFamily="34" charset="0"/>
                <a:cs typeface="Arial" panose="020B0604020202020204" pitchFamily="34" charset="0"/>
                <a:sym typeface="+mn-ea"/>
              </a:rPr>
              <a:t>6000</a:t>
            </a:r>
            <a:r>
              <a:rPr lang="zh-CN" altLang="en-US" sz="1600">
                <a:solidFill>
                  <a:schemeClr val="tx2">
                    <a:lumMod val="75000"/>
                  </a:schemeClr>
                </a:solidFill>
                <a:latin typeface="Arial" panose="020B0604020202020204" pitchFamily="34" charset="0"/>
                <a:cs typeface="Arial" panose="020B0604020202020204" pitchFamily="34" charset="0"/>
                <a:sym typeface="+mn-ea"/>
              </a:rPr>
              <a:t>亿人民币</a:t>
            </a:r>
            <a:r>
              <a:rPr lang="zh-CN" altLang="en-US" sz="1600">
                <a:solidFill>
                  <a:schemeClr val="tx2">
                    <a:lumMod val="75000"/>
                  </a:schemeClr>
                </a:solidFill>
                <a:latin typeface="Arial" panose="020B0604020202020204" pitchFamily="34" charset="0"/>
                <a:cs typeface="Arial" panose="020B0604020202020204" pitchFamily="34" charset="0"/>
              </a:rPr>
              <a:t>，其中BTC </a:t>
            </a:r>
            <a:r>
              <a:rPr lang="zh-CN" altLang="en-US" sz="1600">
                <a:solidFill>
                  <a:schemeClr val="tx2">
                    <a:lumMod val="75000"/>
                  </a:schemeClr>
                </a:solidFill>
                <a:latin typeface="Arial" panose="020B0604020202020204" pitchFamily="34" charset="0"/>
                <a:cs typeface="Arial" panose="020B0604020202020204" pitchFamily="34" charset="0"/>
              </a:rPr>
              <a:t>市值达到1.3万亿美元 ，而以太坊达到了2700亿美元。</a:t>
            </a:r>
            <a:endParaRPr lang="zh-CN" altLang="en-US" sz="1600">
              <a:solidFill>
                <a:schemeClr val="tx2">
                  <a:lumMod val="75000"/>
                </a:schemeClr>
              </a:solidFill>
              <a:latin typeface="Arial" panose="020B0604020202020204" pitchFamily="34" charset="0"/>
              <a:cs typeface="Arial" panose="020B0604020202020204" pitchFamily="34" charset="0"/>
            </a:endParaRPr>
          </a:p>
          <a:p>
            <a:pPr marL="285750" indent="-285750" algn="l">
              <a:lnSpc>
                <a:spcPct val="150000"/>
              </a:lnSpc>
              <a:buClr>
                <a:srgbClr val="FF9001"/>
              </a:buClr>
              <a:buFont typeface="Wingdings" panose="05000000000000000000" pitchFamily="2" charset="2"/>
              <a:buChar char="ü"/>
              <a:defRPr sz="1400"/>
            </a:pPr>
            <a:r>
              <a:rPr lang="zh-CN" altLang="en-US" sz="1600">
                <a:solidFill>
                  <a:schemeClr val="tx2">
                    <a:lumMod val="75000"/>
                  </a:schemeClr>
                </a:solidFill>
                <a:latin typeface="Arial" panose="020B0604020202020204" pitchFamily="34" charset="0"/>
                <a:cs typeface="Arial" panose="020B0604020202020204" pitchFamily="34" charset="0"/>
              </a:rPr>
              <a:t>截至今年，加密货币的全球渗透率为 6.9%，全球范围内约有 5.6 亿人拥有加密货币，相比去年的 4.2 亿人增长了 33%。其中，亚洲是加密货币拥有最多的大洲，南美和大洋洲为占有比增长最快的地方（116.5%）</a:t>
            </a:r>
            <a:r>
              <a:rPr lang="zh-CN" altLang="en-US" sz="1600">
                <a:solidFill>
                  <a:schemeClr val="tx2">
                    <a:lumMod val="75000"/>
                  </a:schemeClr>
                </a:solidFill>
                <a:latin typeface="Arial" panose="020B0604020202020204" pitchFamily="34" charset="0"/>
                <a:cs typeface="Arial" panose="020B0604020202020204" pitchFamily="34" charset="0"/>
                <a:sym typeface="+mn-ea"/>
              </a:rPr>
              <a:t>。</a:t>
            </a:r>
            <a:endParaRPr lang="zh-CN" altLang="en-US" sz="1600">
              <a:solidFill>
                <a:schemeClr val="tx2">
                  <a:lumMod val="75000"/>
                </a:schemeClr>
              </a:solidFill>
              <a:latin typeface="Arial" panose="020B0604020202020204" pitchFamily="34" charset="0"/>
              <a:cs typeface="Arial" panose="020B0604020202020204" pitchFamily="34" charset="0"/>
            </a:endParaRPr>
          </a:p>
        </p:txBody>
      </p:sp>
      <p:pic>
        <p:nvPicPr>
          <p:cNvPr id="20" name="图片 19"/>
          <p:cNvPicPr>
            <a:picLocks noChangeAspect="1"/>
          </p:cNvPicPr>
          <p:nvPr/>
        </p:nvPicPr>
        <p:blipFill>
          <a:blip r:embed="rId1"/>
          <a:stretch>
            <a:fillRect/>
          </a:stretch>
        </p:blipFill>
        <p:spPr>
          <a:xfrm>
            <a:off x="6804025" y="2904490"/>
            <a:ext cx="4513580" cy="3478530"/>
          </a:xfrm>
          <a:prstGeom prst="rect">
            <a:avLst/>
          </a:prstGeom>
        </p:spPr>
      </p:pic>
      <p:grpSp>
        <p:nvGrpSpPr>
          <p:cNvPr id="66" name="组合 65"/>
          <p:cNvGrpSpPr/>
          <p:nvPr/>
        </p:nvGrpSpPr>
        <p:grpSpPr>
          <a:xfrm>
            <a:off x="990600" y="2995930"/>
            <a:ext cx="5487670" cy="3261360"/>
            <a:chOff x="1291" y="1634"/>
            <a:chExt cx="3091" cy="809"/>
          </a:xfrm>
        </p:grpSpPr>
        <p:sp>
          <p:nvSpPr>
            <p:cNvPr id="67" name="矩形: 圆角 1"/>
            <p:cNvSpPr/>
            <p:nvPr/>
          </p:nvSpPr>
          <p:spPr>
            <a:xfrm>
              <a:off x="1291" y="1634"/>
              <a:ext cx="3091" cy="809"/>
            </a:xfrm>
            <a:prstGeom prst="roundRect">
              <a:avLst>
                <a:gd name="adj" fmla="val 1131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solidFill>
                  <a:schemeClr val="bg1"/>
                </a:solidFill>
                <a:latin typeface="Arial" panose="020B0604020202020204" pitchFamily="34" charset="0"/>
                <a:ea typeface="Arial" panose="020B0604020202020204" pitchFamily="34" charset="0"/>
                <a:sym typeface="Arial" panose="020B0604020202020204" pitchFamily="34" charset="0"/>
              </a:endParaRPr>
            </a:p>
          </p:txBody>
        </p:sp>
        <p:sp>
          <p:nvSpPr>
            <p:cNvPr id="68" name="任意多边形: 形状 46"/>
            <p:cNvSpPr/>
            <p:nvPr/>
          </p:nvSpPr>
          <p:spPr>
            <a:xfrm>
              <a:off x="3727" y="1635"/>
              <a:ext cx="655" cy="244"/>
            </a:xfrm>
            <a:custGeom>
              <a:avLst/>
              <a:gdLst>
                <a:gd name="connsiteX0" fmla="*/ 0 w 898574"/>
                <a:gd name="connsiteY0" fmla="*/ 0 h 641023"/>
                <a:gd name="connsiteX1" fmla="*/ 726663 w 898574"/>
                <a:gd name="connsiteY1" fmla="*/ 0 h 641023"/>
                <a:gd name="connsiteX2" fmla="*/ 898574 w 898574"/>
                <a:gd name="connsiteY2" fmla="*/ 171911 h 641023"/>
                <a:gd name="connsiteX3" fmla="*/ 898574 w 898574"/>
                <a:gd name="connsiteY3" fmla="*/ 641023 h 641023"/>
                <a:gd name="connsiteX4" fmla="*/ 828427 w 898574"/>
                <a:gd name="connsiteY4" fmla="*/ 637481 h 641023"/>
                <a:gd name="connsiteX5" fmla="*/ 12567 w 898574"/>
                <a:gd name="connsiteY5" fmla="*/ 34337 h 641023"/>
                <a:gd name="connsiteX6" fmla="*/ 0 w 898574"/>
                <a:gd name="connsiteY6" fmla="*/ 0 h 64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8574" h="641023">
                  <a:moveTo>
                    <a:pt x="0" y="0"/>
                  </a:moveTo>
                  <a:lnTo>
                    <a:pt x="726663" y="0"/>
                  </a:lnTo>
                  <a:cubicBezTo>
                    <a:pt x="821607" y="0"/>
                    <a:pt x="898574" y="76967"/>
                    <a:pt x="898574" y="171911"/>
                  </a:cubicBezTo>
                  <a:lnTo>
                    <a:pt x="898574" y="641023"/>
                  </a:lnTo>
                  <a:lnTo>
                    <a:pt x="828427" y="637481"/>
                  </a:lnTo>
                  <a:cubicBezTo>
                    <a:pt x="460135" y="600079"/>
                    <a:pt x="151163" y="362012"/>
                    <a:pt x="12567" y="34337"/>
                  </a:cubicBezTo>
                  <a:lnTo>
                    <a:pt x="0" y="0"/>
                  </a:lnTo>
                  <a:close/>
                </a:path>
              </a:pathLst>
            </a:custGeom>
            <a:gradFill>
              <a:gsLst>
                <a:gs pos="14000">
                  <a:schemeClr val="bg1">
                    <a:lumMod val="95000"/>
                    <a:alpha val="0"/>
                  </a:schemeClr>
                </a:gs>
                <a:gs pos="59000">
                  <a:schemeClr val="bg1">
                    <a:lumMod val="85000"/>
                    <a:alpha val="43000"/>
                  </a:schemeClr>
                </a:gs>
                <a:gs pos="82000">
                  <a:schemeClr val="bg1">
                    <a:lumMod val="85000"/>
                    <a:alpha val="72000"/>
                  </a:schemeClr>
                </a:gs>
                <a:gs pos="100000">
                  <a:schemeClr val="bg1">
                    <a:lumMod val="8500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Arial" panose="020B0604020202020204" pitchFamily="34" charset="0"/>
                <a:ea typeface="Arial" panose="020B0604020202020204" pitchFamily="34" charset="0"/>
                <a:sym typeface="Arial" panose="020B0604020202020204" pitchFamily="34" charset="0"/>
              </a:endParaRPr>
            </a:p>
          </p:txBody>
        </p:sp>
      </p:grpSp>
      <p:sp>
        <p:nvSpPr>
          <p:cNvPr id="98" name="文本框 97"/>
          <p:cNvSpPr txBox="1"/>
          <p:nvPr/>
        </p:nvSpPr>
        <p:spPr>
          <a:xfrm>
            <a:off x="1217930" y="3077845"/>
            <a:ext cx="5053965" cy="3039745"/>
          </a:xfrm>
          <a:prstGeom prst="rect">
            <a:avLst/>
          </a:prstGeom>
          <a:noFill/>
          <a:ln w="1905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t" anchorCtr="0">
            <a:noAutofit/>
          </a:bodyPr>
          <a:p>
            <a:pPr marL="285750" indent="-285750" algn="l">
              <a:lnSpc>
                <a:spcPct val="150000"/>
              </a:lnSpc>
              <a:buClr>
                <a:srgbClr val="FF9001"/>
              </a:buClr>
              <a:buFont typeface="Wingdings" panose="05000000000000000000" pitchFamily="2" charset="2"/>
              <a:buChar char="ü"/>
              <a:defRPr sz="1400"/>
            </a:pPr>
            <a:r>
              <a:rPr lang="zh-CN" altLang="en-US" sz="1600">
                <a:solidFill>
                  <a:schemeClr val="tx2">
                    <a:lumMod val="75000"/>
                  </a:schemeClr>
                </a:solidFill>
                <a:latin typeface="Arial" panose="020B0604020202020204" pitchFamily="34" charset="0"/>
                <a:cs typeface="Arial" panose="020B0604020202020204" pitchFamily="34" charset="0"/>
                <a:sym typeface="+mn-ea"/>
              </a:rPr>
              <a:t>DeFi </a:t>
            </a:r>
            <a:r>
              <a:rPr lang="zh-CN" altLang="en-US" sz="1600">
                <a:solidFill>
                  <a:schemeClr val="tx2">
                    <a:lumMod val="75000"/>
                  </a:schemeClr>
                </a:solidFill>
                <a:latin typeface="Arial" panose="020B0604020202020204" pitchFamily="34" charset="0"/>
                <a:cs typeface="Arial" panose="020B0604020202020204" pitchFamily="34" charset="0"/>
                <a:sym typeface="+mn-ea"/>
              </a:rPr>
              <a:t>是基于区块链技术的去中心化金融，旨在用自动化取代中间人，重建传统的金融系统。主要金融组件有稳定币、交易所、支付、借贷、金融化产品和衍生品等</a:t>
            </a:r>
            <a:r>
              <a:rPr lang="zh-CN" altLang="en-US" sz="1600">
                <a:solidFill>
                  <a:schemeClr val="tx2">
                    <a:lumMod val="75000"/>
                  </a:schemeClr>
                </a:solidFill>
                <a:latin typeface="Arial" panose="020B0604020202020204" pitchFamily="34" charset="0"/>
                <a:cs typeface="Arial" panose="020B0604020202020204" pitchFamily="34" charset="0"/>
                <a:sym typeface="+mn-ea"/>
              </a:rPr>
              <a:t>。</a:t>
            </a:r>
            <a:endParaRPr lang="zh-CN" altLang="en-US" sz="1600">
              <a:solidFill>
                <a:schemeClr val="tx2">
                  <a:lumMod val="75000"/>
                </a:schemeClr>
              </a:solidFill>
              <a:latin typeface="Arial" panose="020B0604020202020204" pitchFamily="34" charset="0"/>
              <a:cs typeface="Arial" panose="020B0604020202020204" pitchFamily="34" charset="0"/>
            </a:endParaRPr>
          </a:p>
          <a:p>
            <a:pPr marL="285750" indent="-285750" algn="l">
              <a:lnSpc>
                <a:spcPct val="150000"/>
              </a:lnSpc>
              <a:buClr>
                <a:srgbClr val="FF9001"/>
              </a:buClr>
              <a:buFont typeface="Wingdings" panose="05000000000000000000" pitchFamily="2" charset="2"/>
              <a:buChar char="ü"/>
              <a:defRPr sz="1400"/>
            </a:pPr>
            <a:r>
              <a:rPr lang="zh-CN" altLang="en-US" sz="1600">
                <a:solidFill>
                  <a:schemeClr val="tx2">
                    <a:lumMod val="75000"/>
                  </a:schemeClr>
                </a:solidFill>
                <a:latin typeface="Arial" panose="020B0604020202020204" pitchFamily="34" charset="0"/>
                <a:cs typeface="Arial" panose="020B0604020202020204" pitchFamily="34" charset="0"/>
                <a:sym typeface="+mn-ea"/>
              </a:rPr>
              <a:t>2024 年，大量资本涌入 DeFi，使锁定的总价值（TVL）从年初的 542 亿美元增至今年迄今的 949 亿美元，增长了 75.1%</a:t>
            </a:r>
            <a:r>
              <a:rPr lang="zh-CN" altLang="en-US" sz="1600">
                <a:solidFill>
                  <a:schemeClr val="tx2">
                    <a:lumMod val="75000"/>
                  </a:schemeClr>
                </a:solidFill>
                <a:latin typeface="Arial" panose="020B0604020202020204" pitchFamily="34" charset="0"/>
                <a:cs typeface="Arial" panose="020B0604020202020204" pitchFamily="34" charset="0"/>
                <a:sym typeface="+mn-ea"/>
              </a:rPr>
              <a:t>，</a:t>
            </a:r>
            <a:r>
              <a:rPr lang="zh-CN" altLang="en-US" sz="1600">
                <a:solidFill>
                  <a:schemeClr val="tx2">
                    <a:lumMod val="75000"/>
                  </a:schemeClr>
                </a:solidFill>
                <a:latin typeface="Arial" panose="020B0604020202020204" pitchFamily="34" charset="0"/>
                <a:cs typeface="Arial" panose="020B0604020202020204" pitchFamily="34" charset="0"/>
                <a:sym typeface="+mn-ea"/>
              </a:rPr>
              <a:t>这一增长惠及几乎所有 DeFi 应用</a:t>
            </a:r>
            <a:r>
              <a:rPr lang="zh-CN" altLang="en-US" sz="1600">
                <a:solidFill>
                  <a:schemeClr val="tx2">
                    <a:lumMod val="75000"/>
                  </a:schemeClr>
                </a:solidFill>
                <a:latin typeface="Arial" panose="020B0604020202020204" pitchFamily="34" charset="0"/>
                <a:cs typeface="Arial" panose="020B0604020202020204" pitchFamily="34" charset="0"/>
                <a:sym typeface="+mn-ea"/>
              </a:rPr>
              <a:t>。</a:t>
            </a:r>
            <a:endParaRPr lang="zh-CN" altLang="en-US" sz="1600">
              <a:solidFill>
                <a:schemeClr val="tx2">
                  <a:lumMod val="75000"/>
                </a:schemeClr>
              </a:solidFill>
              <a:latin typeface="Arial" panose="020B0604020202020204" pitchFamily="34" charset="0"/>
              <a:cs typeface="Arial" panose="020B0604020202020204" pitchFamily="34" charset="0"/>
              <a:sym typeface="+mn-ea"/>
            </a:endParaRPr>
          </a:p>
          <a:p>
            <a:pPr indent="0" algn="l">
              <a:lnSpc>
                <a:spcPct val="150000"/>
              </a:lnSpc>
              <a:buClr>
                <a:srgbClr val="FF9001"/>
              </a:buClr>
              <a:buFont typeface="Wingdings" panose="05000000000000000000" pitchFamily="2" charset="2"/>
              <a:buNone/>
              <a:defRPr sz="1400"/>
            </a:pPr>
            <a:endParaRPr sz="1600" dirty="0" smtClean="0">
              <a:solidFill>
                <a:schemeClr val="tx1"/>
              </a:solidFill>
              <a:latin typeface="Arial" panose="020B0604020202020204" pitchFamily="34" charset="0"/>
              <a:ea typeface="Arial" panose="020B0604020202020204" pitchFamily="34" charset="0"/>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 6"/>
          <p:cNvPicPr/>
          <p:nvPr/>
        </p:nvPicPr>
        <p:blipFill>
          <a:blip r:embed="rId1"/>
        </p:blipFill>
        <p:spPr>
          <a:xfrm>
            <a:off x="3475355" y="911860"/>
            <a:ext cx="8500745" cy="4841875"/>
          </a:xfrm>
          <a:prstGeom prst="rect">
            <a:avLst/>
          </a:prstGeom>
        </p:spPr>
      </p:pic>
      <p:sp>
        <p:nvSpPr>
          <p:cNvPr id="2" name="文本占位符 1"/>
          <p:cNvSpPr>
            <a:spLocks noGrp="1"/>
          </p:cNvSpPr>
          <p:nvPr>
            <p:ph type="body" sz="quarter" idx="10"/>
          </p:nvPr>
        </p:nvSpPr>
        <p:spPr/>
        <p:txBody>
          <a:bodyPr>
            <a:noAutofit/>
          </a:bodyPr>
          <a:p>
            <a:r>
              <a:rPr lang="en-US" altLang="zh-CN" sz="2700"/>
              <a:t>DeFi</a:t>
            </a:r>
            <a:r>
              <a:rPr lang="zh-CN" altLang="en-US" sz="2700"/>
              <a:t>全景</a:t>
            </a:r>
            <a:endParaRPr lang="zh-CN" altLang="en-US" sz="2700"/>
          </a:p>
        </p:txBody>
      </p:sp>
      <p:pic>
        <p:nvPicPr>
          <p:cNvPr id="8" name="图片 7"/>
          <p:cNvPicPr>
            <a:picLocks noChangeAspect="1"/>
          </p:cNvPicPr>
          <p:nvPr/>
        </p:nvPicPr>
        <p:blipFill>
          <a:blip r:embed="rId2"/>
          <a:srcRect l="6964" r="45934"/>
          <a:stretch>
            <a:fillRect/>
          </a:stretch>
        </p:blipFill>
        <p:spPr>
          <a:xfrm>
            <a:off x="95250" y="911860"/>
            <a:ext cx="3380105" cy="5226050"/>
          </a:xfrm>
          <a:prstGeom prst="rect">
            <a:avLst/>
          </a:prstGeom>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930275" y="176530"/>
            <a:ext cx="2649855" cy="375920"/>
          </a:xfrm>
        </p:spPr>
        <p:txBody>
          <a:bodyPr>
            <a:noAutofit/>
          </a:bodyPr>
          <a:lstStyle/>
          <a:p>
            <a:r>
              <a:rPr lang="zh-CN" altLang="en-US" sz="2800" dirty="0">
                <a:latin typeface="+mj-ea"/>
                <a:ea typeface="+mj-ea"/>
                <a:cs typeface="+mn-ea"/>
                <a:sym typeface="+mn-lt"/>
              </a:rPr>
              <a:t>稳定币和支付</a:t>
            </a:r>
            <a:endParaRPr lang="zh-CN" altLang="en-US" sz="2800" dirty="0">
              <a:latin typeface="+mj-ea"/>
              <a:ea typeface="+mj-ea"/>
              <a:cs typeface="+mn-ea"/>
              <a:sym typeface="+mn-lt"/>
            </a:endParaRPr>
          </a:p>
        </p:txBody>
      </p:sp>
      <p:sp>
        <p:nvSpPr>
          <p:cNvPr id="9" name="矩形 8"/>
          <p:cNvSpPr/>
          <p:nvPr/>
        </p:nvSpPr>
        <p:spPr>
          <a:xfrm rot="16200000">
            <a:off x="6531369" y="-834939"/>
            <a:ext cx="374080" cy="1008418"/>
          </a:xfrm>
          <a:prstGeom prst="rect">
            <a:avLst/>
          </a:prstGeom>
          <a:gradFill flip="none" rotWithShape="1">
            <a:gsLst>
              <a:gs pos="0">
                <a:srgbClr val="FFC000"/>
              </a:gs>
              <a:gs pos="100000">
                <a:srgbClr val="FF9001"/>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20204" pitchFamily="34" charset="0"/>
              <a:cs typeface="Arial" panose="020B0604020202020204" pitchFamily="34" charset="0"/>
            </a:endParaRPr>
          </a:p>
        </p:txBody>
      </p:sp>
      <p:sp>
        <p:nvSpPr>
          <p:cNvPr id="10" name="矩形 9"/>
          <p:cNvSpPr/>
          <p:nvPr/>
        </p:nvSpPr>
        <p:spPr>
          <a:xfrm rot="16200000">
            <a:off x="2287592" y="-836153"/>
            <a:ext cx="374080" cy="1008418"/>
          </a:xfrm>
          <a:prstGeom prst="rect">
            <a:avLst/>
          </a:prstGeom>
          <a:gradFill flip="none" rotWithShape="1">
            <a:gsLst>
              <a:gs pos="0">
                <a:srgbClr val="769BFF"/>
              </a:gs>
              <a:gs pos="100000">
                <a:srgbClr val="2864FF"/>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20204" pitchFamily="34" charset="0"/>
              <a:cs typeface="Arial" panose="020B0604020202020204" pitchFamily="34" charset="0"/>
            </a:endParaRPr>
          </a:p>
        </p:txBody>
      </p:sp>
      <p:sp>
        <p:nvSpPr>
          <p:cNvPr id="11" name="矩形 10"/>
          <p:cNvSpPr/>
          <p:nvPr/>
        </p:nvSpPr>
        <p:spPr>
          <a:xfrm rot="16200000">
            <a:off x="4406966" y="-836153"/>
            <a:ext cx="374080" cy="1008418"/>
          </a:xfrm>
          <a:prstGeom prst="rect">
            <a:avLst/>
          </a:prstGeom>
          <a:solidFill>
            <a:srgbClr val="769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20204" pitchFamily="34" charset="0"/>
              <a:cs typeface="Arial" panose="020B0604020202020204" pitchFamily="34" charset="0"/>
            </a:endParaRPr>
          </a:p>
        </p:txBody>
      </p:sp>
      <p:sp>
        <p:nvSpPr>
          <p:cNvPr id="12" name="矩形 11"/>
          <p:cNvSpPr/>
          <p:nvPr/>
        </p:nvSpPr>
        <p:spPr>
          <a:xfrm rot="16200000">
            <a:off x="3347279" y="-836153"/>
            <a:ext cx="374080" cy="1008418"/>
          </a:xfrm>
          <a:prstGeom prst="rect">
            <a:avLst/>
          </a:prstGeom>
          <a:solidFill>
            <a:srgbClr val="286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20204" pitchFamily="34" charset="0"/>
              <a:cs typeface="Arial" panose="020B0604020202020204" pitchFamily="34" charset="0"/>
            </a:endParaRPr>
          </a:p>
        </p:txBody>
      </p:sp>
      <p:sp>
        <p:nvSpPr>
          <p:cNvPr id="13" name="矩形 12"/>
          <p:cNvSpPr/>
          <p:nvPr/>
        </p:nvSpPr>
        <p:spPr>
          <a:xfrm rot="16200000">
            <a:off x="7591056" y="-834939"/>
            <a:ext cx="374080" cy="1008418"/>
          </a:xfrm>
          <a:prstGeom prst="rect">
            <a:avLst/>
          </a:prstGeom>
          <a:solidFill>
            <a:srgbClr val="FF9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20204" pitchFamily="34" charset="0"/>
              <a:cs typeface="Arial" panose="020B0604020202020204" pitchFamily="34" charset="0"/>
            </a:endParaRPr>
          </a:p>
        </p:txBody>
      </p:sp>
      <p:sp>
        <p:nvSpPr>
          <p:cNvPr id="14" name="矩形 13"/>
          <p:cNvSpPr/>
          <p:nvPr/>
        </p:nvSpPr>
        <p:spPr>
          <a:xfrm rot="16200000">
            <a:off x="8650743" y="-834939"/>
            <a:ext cx="374080" cy="100841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20204" pitchFamily="34" charset="0"/>
              <a:cs typeface="Arial" panose="020B0604020202020204" pitchFamily="34" charset="0"/>
            </a:endParaRPr>
          </a:p>
        </p:txBody>
      </p:sp>
      <p:sp>
        <p:nvSpPr>
          <p:cNvPr id="15" name="矩形 14"/>
          <p:cNvSpPr/>
          <p:nvPr/>
        </p:nvSpPr>
        <p:spPr>
          <a:xfrm rot="16200000">
            <a:off x="5466653" y="-836153"/>
            <a:ext cx="374080" cy="1008418"/>
          </a:xfrm>
          <a:prstGeom prst="rect">
            <a:avLst/>
          </a:prstGeom>
          <a:solidFill>
            <a:srgbClr val="0663FF">
              <a:alpha val="50000"/>
            </a:srgbClr>
          </a:solidFill>
          <a:ln>
            <a:noFill/>
          </a:ln>
          <a:effectLst>
            <a:outerShdw blurRad="469900" sx="102000" sy="102000" algn="ctr" rotWithShape="0">
              <a:srgbClr val="0600F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charset="-122"/>
              <a:ea typeface="微软雅黑" panose="020B0503020204020204" charset="-122"/>
            </a:endParaRPr>
          </a:p>
        </p:txBody>
      </p:sp>
      <p:sp>
        <p:nvSpPr>
          <p:cNvPr id="16" name="矩形 15"/>
          <p:cNvSpPr/>
          <p:nvPr/>
        </p:nvSpPr>
        <p:spPr>
          <a:xfrm rot="16200000">
            <a:off x="9710430" y="-834939"/>
            <a:ext cx="374080" cy="1008418"/>
          </a:xfrm>
          <a:prstGeom prst="rect">
            <a:avLst/>
          </a:prstGeom>
          <a:solidFill>
            <a:srgbClr val="FF9001">
              <a:alpha val="50000"/>
            </a:srgbClr>
          </a:solidFill>
          <a:ln>
            <a:noFill/>
          </a:ln>
          <a:effectLst>
            <a:outerShdw blurRad="469900" sx="102000" sy="102000" algn="ctr" rotWithShape="0">
              <a:srgbClr val="FF9001">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charset="-122"/>
              <a:ea typeface="微软雅黑" panose="020B0503020204020204" charset="-122"/>
            </a:endParaRPr>
          </a:p>
        </p:txBody>
      </p:sp>
      <p:sp>
        <p:nvSpPr>
          <p:cNvPr id="7" name="文本框 6"/>
          <p:cNvSpPr txBox="1"/>
          <p:nvPr/>
        </p:nvSpPr>
        <p:spPr>
          <a:xfrm>
            <a:off x="908050" y="690245"/>
            <a:ext cx="10266680" cy="17056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285750" indent="-285750" algn="l">
              <a:lnSpc>
                <a:spcPct val="150000"/>
              </a:lnSpc>
              <a:buClr>
                <a:srgbClr val="FF9001"/>
              </a:buClr>
              <a:buFont typeface="Wingdings" panose="05000000000000000000" pitchFamily="2" charset="2"/>
              <a:buChar char="ü"/>
              <a:defRPr sz="1400"/>
            </a:pPr>
            <a:r>
              <a:rPr lang="zh-CN" altLang="en-US">
                <a:solidFill>
                  <a:schemeClr val="tx2">
                    <a:lumMod val="75000"/>
                  </a:schemeClr>
                </a:solidFill>
                <a:latin typeface="Arial" panose="020B0604020202020204" pitchFamily="34" charset="0"/>
                <a:cs typeface="Arial" panose="020B0604020202020204" pitchFamily="34" charset="0"/>
              </a:rPr>
              <a:t>稳定币是一种旨在与某些资产（通常是货币）维持相对稳定价值的加密货币</a:t>
            </a:r>
            <a:r>
              <a:rPr lang="zh-CN" altLang="en-US">
                <a:solidFill>
                  <a:schemeClr val="tx2">
                    <a:lumMod val="75000"/>
                  </a:schemeClr>
                </a:solidFill>
                <a:latin typeface="Arial" panose="020B0604020202020204" pitchFamily="34" charset="0"/>
                <a:cs typeface="Arial" panose="020B0604020202020204" pitchFamily="34" charset="0"/>
                <a:sym typeface="+mn-ea"/>
              </a:rPr>
              <a:t>，</a:t>
            </a:r>
            <a:r>
              <a:rPr lang="zh-CN" altLang="en-US">
                <a:solidFill>
                  <a:schemeClr val="tx2">
                    <a:lumMod val="75000"/>
                  </a:schemeClr>
                </a:solidFill>
                <a:latin typeface="Arial" panose="020B0604020202020204" pitchFamily="34" charset="0"/>
                <a:cs typeface="Arial" panose="020B0604020202020204" pitchFamily="34" charset="0"/>
              </a:rPr>
              <a:t>以传统法定货币（如美元、欧元等）或实物商品作为储备金</a:t>
            </a:r>
            <a:r>
              <a:rPr lang="zh-CN" altLang="en-US">
                <a:solidFill>
                  <a:schemeClr val="tx2">
                    <a:lumMod val="75000"/>
                  </a:schemeClr>
                </a:solidFill>
                <a:latin typeface="Arial" panose="020B0604020202020204" pitchFamily="34" charset="0"/>
                <a:cs typeface="Arial" panose="020B0604020202020204" pitchFamily="34" charset="0"/>
                <a:sym typeface="+mn-ea"/>
              </a:rPr>
              <a:t>，</a:t>
            </a:r>
            <a:r>
              <a:rPr lang="zh-CN" altLang="en-US">
                <a:solidFill>
                  <a:schemeClr val="tx2">
                    <a:lumMod val="75000"/>
                  </a:schemeClr>
                </a:solidFill>
                <a:latin typeface="Arial" panose="020B0604020202020204" pitchFamily="34" charset="0"/>
                <a:cs typeface="Arial" panose="020B0604020202020204" pitchFamily="34" charset="0"/>
              </a:rPr>
              <a:t>基于区块链技术保证货币发行与移转的安全和透明</a:t>
            </a:r>
            <a:r>
              <a:rPr lang="zh-CN" altLang="en-US">
                <a:solidFill>
                  <a:schemeClr val="tx2">
                    <a:lumMod val="75000"/>
                  </a:schemeClr>
                </a:solidFill>
                <a:latin typeface="Arial" panose="020B0604020202020204" pitchFamily="34" charset="0"/>
                <a:cs typeface="Arial" panose="020B0604020202020204" pitchFamily="34" charset="0"/>
                <a:sym typeface="+mn-ea"/>
              </a:rPr>
              <a:t>，</a:t>
            </a:r>
            <a:r>
              <a:rPr lang="zh-CN" altLang="en-US">
                <a:solidFill>
                  <a:schemeClr val="tx2">
                    <a:lumMod val="75000"/>
                  </a:schemeClr>
                </a:solidFill>
                <a:latin typeface="Arial" panose="020B0604020202020204" pitchFamily="34" charset="0"/>
                <a:cs typeface="Arial" panose="020B0604020202020204" pitchFamily="34" charset="0"/>
              </a:rPr>
              <a:t>通常由金融机构或金融机构的合作伙伴发行和管理。</a:t>
            </a:r>
            <a:endParaRPr lang="zh-CN" altLang="en-US">
              <a:solidFill>
                <a:schemeClr val="tx2">
                  <a:lumMod val="75000"/>
                </a:schemeClr>
              </a:solidFill>
              <a:latin typeface="Arial" panose="020B0604020202020204" pitchFamily="34" charset="0"/>
              <a:cs typeface="Arial" panose="020B0604020202020204" pitchFamily="34" charset="0"/>
            </a:endParaRPr>
          </a:p>
          <a:p>
            <a:pPr marL="285750" indent="-285750" algn="l">
              <a:lnSpc>
                <a:spcPct val="150000"/>
              </a:lnSpc>
              <a:buClr>
                <a:srgbClr val="FF9001"/>
              </a:buClr>
              <a:buFont typeface="Wingdings" panose="05000000000000000000" pitchFamily="2" charset="2"/>
              <a:buChar char="ü"/>
              <a:defRPr sz="1400"/>
            </a:pPr>
            <a:r>
              <a:rPr lang="zh-CN" altLang="en-US">
                <a:solidFill>
                  <a:schemeClr val="tx2">
                    <a:lumMod val="75000"/>
                  </a:schemeClr>
                </a:solidFill>
                <a:latin typeface="Arial" panose="020B0604020202020204" pitchFamily="34" charset="0"/>
                <a:cs typeface="Arial" panose="020B0604020202020204" pitchFamily="34" charset="0"/>
              </a:rPr>
              <a:t>在过去4年间，全球稳定币季度转账量增长了17倍，今年二季度已达4万亿美元</a:t>
            </a:r>
            <a:r>
              <a:rPr lang="zh-CN" altLang="en-US">
                <a:solidFill>
                  <a:schemeClr val="tx2">
                    <a:lumMod val="75000"/>
                  </a:schemeClr>
                </a:solidFill>
                <a:latin typeface="Arial" panose="020B0604020202020204" pitchFamily="34" charset="0"/>
                <a:cs typeface="Arial" panose="020B0604020202020204" pitchFamily="34" charset="0"/>
                <a:sym typeface="+mn-ea"/>
              </a:rPr>
              <a:t>，</a:t>
            </a:r>
            <a:r>
              <a:rPr lang="zh-CN" altLang="en-US">
                <a:solidFill>
                  <a:schemeClr val="tx2">
                    <a:lumMod val="75000"/>
                  </a:schemeClr>
                </a:solidFill>
                <a:latin typeface="Arial" panose="020B0604020202020204" pitchFamily="34" charset="0"/>
                <a:cs typeface="Arial" panose="020B0604020202020204" pitchFamily="34" charset="0"/>
              </a:rPr>
              <a:t>仅在2024年7月17日，稳定币市场</a:t>
            </a:r>
            <a:r>
              <a:rPr lang="zh-CN" altLang="en-US">
                <a:solidFill>
                  <a:schemeClr val="tx2">
                    <a:lumMod val="75000"/>
                  </a:schemeClr>
                </a:solidFill>
                <a:latin typeface="Arial" panose="020B0604020202020204" pitchFamily="34" charset="0"/>
                <a:cs typeface="Arial" panose="020B0604020202020204" pitchFamily="34" charset="0"/>
              </a:rPr>
              <a:t>单日总交易量就达到870亿美元，稳定币汇款转账支付的便利性让其在国际支付体系中扮演着越来越重要的角色。</a:t>
            </a:r>
            <a:endParaRPr lang="zh-CN" altLang="en-US">
              <a:solidFill>
                <a:schemeClr val="tx2">
                  <a:lumMod val="75000"/>
                </a:schemeClr>
              </a:solidFill>
              <a:latin typeface="Arial" panose="020B0604020202020204" pitchFamily="34" charset="0"/>
              <a:cs typeface="Arial" panose="020B0604020202020204" pitchFamily="34" charset="0"/>
            </a:endParaRPr>
          </a:p>
          <a:p>
            <a:pPr indent="0" algn="l">
              <a:lnSpc>
                <a:spcPct val="150000"/>
              </a:lnSpc>
              <a:buClr>
                <a:srgbClr val="FF9001"/>
              </a:buClr>
              <a:buFont typeface="Wingdings" panose="05000000000000000000" pitchFamily="2" charset="2"/>
              <a:buNone/>
              <a:defRPr sz="1400"/>
            </a:pPr>
            <a:endParaRPr lang="zh-CN" altLang="en-US">
              <a:solidFill>
                <a:schemeClr val="tx2">
                  <a:lumMod val="75000"/>
                </a:schemeClr>
              </a:solidFill>
              <a:latin typeface="Arial" panose="020B0604020202020204" pitchFamily="34" charset="0"/>
              <a:cs typeface="Arial" panose="020B0604020202020204" pitchFamily="34" charset="0"/>
            </a:endParaRPr>
          </a:p>
        </p:txBody>
      </p:sp>
      <p:sp>
        <p:nvSpPr>
          <p:cNvPr id="18" name="文本框 17"/>
          <p:cNvSpPr txBox="1"/>
          <p:nvPr/>
        </p:nvSpPr>
        <p:spPr>
          <a:xfrm>
            <a:off x="930275" y="3491865"/>
            <a:ext cx="10266680" cy="13823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285750" indent="-285750" algn="l">
              <a:lnSpc>
                <a:spcPct val="150000"/>
              </a:lnSpc>
              <a:buClr>
                <a:srgbClr val="FF9001"/>
              </a:buClr>
              <a:buFont typeface="Wingdings" panose="05000000000000000000" pitchFamily="2" charset="2"/>
              <a:buChar char="ü"/>
              <a:defRPr sz="1400"/>
            </a:pPr>
            <a:r>
              <a:rPr>
                <a:solidFill>
                  <a:schemeClr val="tx2">
                    <a:lumMod val="75000"/>
                  </a:schemeClr>
                </a:solidFill>
                <a:latin typeface="Arial" panose="020B0604020202020204" pitchFamily="34" charset="0"/>
                <a:cs typeface="Arial" panose="020B0604020202020204" pitchFamily="34" charset="0"/>
              </a:rPr>
              <a:t>目前的国际清算网络（如 </a:t>
            </a:r>
            <a:r>
              <a:rPr>
                <a:solidFill>
                  <a:schemeClr val="tx2">
                    <a:lumMod val="75000"/>
                  </a:schemeClr>
                </a:solidFill>
                <a:latin typeface="Arial" panose="020B0604020202020204" pitchFamily="34" charset="0"/>
                <a:cs typeface="Arial" panose="020B0604020202020204" pitchFamily="34" charset="0"/>
                <a:sym typeface="+mn-ea"/>
              </a:rPr>
              <a:t>SWIFT</a:t>
            </a:r>
            <a:r>
              <a:rPr>
                <a:solidFill>
                  <a:schemeClr val="tx2">
                    <a:lumMod val="75000"/>
                  </a:schemeClr>
                </a:solidFill>
                <a:latin typeface="Arial" panose="020B0604020202020204" pitchFamily="34" charset="0"/>
                <a:cs typeface="Arial" panose="020B0604020202020204" pitchFamily="34" charset="0"/>
              </a:rPr>
              <a:t>、SEPA ）是一个昂贵且低效的系统，在有限的银行营业时间内运营，并依赖许多中介机构，且各国割裂分散的金融支付体系阻碍了无缝的国际间交易。</a:t>
            </a:r>
            <a:endParaRPr>
              <a:solidFill>
                <a:schemeClr val="tx2">
                  <a:lumMod val="75000"/>
                </a:schemeClr>
              </a:solidFill>
              <a:latin typeface="Arial" panose="020B0604020202020204" pitchFamily="34" charset="0"/>
              <a:cs typeface="Arial" panose="020B0604020202020204" pitchFamily="34" charset="0"/>
            </a:endParaRPr>
          </a:p>
          <a:p>
            <a:pPr marL="285750" indent="-285750" algn="l">
              <a:lnSpc>
                <a:spcPct val="150000"/>
              </a:lnSpc>
              <a:buClr>
                <a:srgbClr val="FF9001"/>
              </a:buClr>
              <a:buFont typeface="Wingdings" panose="05000000000000000000" pitchFamily="2" charset="2"/>
              <a:buChar char="ü"/>
              <a:defRPr sz="1400"/>
            </a:pPr>
            <a:r>
              <a:rPr>
                <a:solidFill>
                  <a:schemeClr val="tx2">
                    <a:lumMod val="75000"/>
                  </a:schemeClr>
                </a:solidFill>
                <a:latin typeface="Arial" panose="020B0604020202020204" pitchFamily="34" charset="0"/>
                <a:cs typeface="Arial" panose="020B0604020202020204" pitchFamily="34" charset="0"/>
              </a:rPr>
              <a:t>区块链 Web3 支付</a:t>
            </a:r>
            <a:r>
              <a:rPr lang="zh-CN" altLang="en-US">
                <a:solidFill>
                  <a:schemeClr val="tx2">
                    <a:lumMod val="75000"/>
                  </a:schemeClr>
                </a:solidFill>
                <a:latin typeface="Arial" panose="020B0604020202020204" pitchFamily="34" charset="0"/>
                <a:cs typeface="Arial" panose="020B0604020202020204" pitchFamily="34" charset="0"/>
              </a:rPr>
              <a:t>是由区块链技术构筑的全球支付通道，可以简化支付流程，减少了中介机构数量，实现即时结算和低成本汇款，并且资金流动可以实时可见，减轻对账的管理费用。</a:t>
            </a:r>
            <a:endParaRPr lang="zh-CN" altLang="en-US">
              <a:solidFill>
                <a:schemeClr val="tx2">
                  <a:lumMod val="75000"/>
                </a:schemeClr>
              </a:solidFill>
              <a:latin typeface="Arial" panose="020B0604020202020204" pitchFamily="34" charset="0"/>
              <a:cs typeface="Arial" panose="020B0604020202020204" pitchFamily="34" charset="0"/>
              <a:sym typeface="+mn-ea"/>
            </a:endParaRPr>
          </a:p>
        </p:txBody>
      </p:sp>
      <p:sp>
        <p:nvSpPr>
          <p:cNvPr id="21" name="文本框 20"/>
          <p:cNvSpPr txBox="1"/>
          <p:nvPr/>
        </p:nvSpPr>
        <p:spPr>
          <a:xfrm>
            <a:off x="6663055" y="4918075"/>
            <a:ext cx="5061585" cy="368300"/>
          </a:xfrm>
          <a:prstGeom prst="rect">
            <a:avLst/>
          </a:prstGeom>
          <a:noFill/>
        </p:spPr>
        <p:txBody>
          <a:bodyPr wrap="square" rtlCol="0" anchor="t">
            <a:spAutoFit/>
          </a:bodyPr>
          <a:p>
            <a:pPr indent="0" algn="l">
              <a:lnSpc>
                <a:spcPct val="150000"/>
              </a:lnSpc>
              <a:buClr>
                <a:srgbClr val="FF9001"/>
              </a:buClr>
              <a:buFont typeface="Wingdings" panose="05000000000000000000" pitchFamily="2" charset="2"/>
              <a:buNone/>
              <a:defRPr sz="1400"/>
            </a:pPr>
            <a:endParaRPr lang="zh-CN" altLang="en-US" sz="1200">
              <a:solidFill>
                <a:schemeClr val="tx2">
                  <a:lumMod val="75000"/>
                </a:schemeClr>
              </a:solidFill>
              <a:latin typeface="Arial" panose="020B0604020202020204" pitchFamily="34" charset="0"/>
              <a:cs typeface="Arial" panose="020B0604020202020204" pitchFamily="34" charset="0"/>
              <a:sym typeface="+mn-ea"/>
            </a:endParaRPr>
          </a:p>
        </p:txBody>
      </p:sp>
      <p:grpSp>
        <p:nvGrpSpPr>
          <p:cNvPr id="66" name="组合 65"/>
          <p:cNvGrpSpPr/>
          <p:nvPr/>
        </p:nvGrpSpPr>
        <p:grpSpPr>
          <a:xfrm>
            <a:off x="758190" y="2108200"/>
            <a:ext cx="5337810" cy="1320800"/>
            <a:chOff x="1291" y="1634"/>
            <a:chExt cx="3091" cy="809"/>
          </a:xfrm>
        </p:grpSpPr>
        <p:sp>
          <p:nvSpPr>
            <p:cNvPr id="67" name="矩形: 圆角 1"/>
            <p:cNvSpPr/>
            <p:nvPr/>
          </p:nvSpPr>
          <p:spPr>
            <a:xfrm>
              <a:off x="1291" y="1634"/>
              <a:ext cx="3091" cy="809"/>
            </a:xfrm>
            <a:prstGeom prst="roundRect">
              <a:avLst>
                <a:gd name="adj" fmla="val 1131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solidFill>
                  <a:schemeClr val="bg1"/>
                </a:solidFill>
                <a:latin typeface="Arial" panose="020B0604020202020204" pitchFamily="34" charset="0"/>
                <a:ea typeface="Arial" panose="020B0604020202020204" pitchFamily="34" charset="0"/>
                <a:sym typeface="Arial" panose="020B0604020202020204" pitchFamily="34" charset="0"/>
              </a:endParaRPr>
            </a:p>
          </p:txBody>
        </p:sp>
        <p:sp>
          <p:nvSpPr>
            <p:cNvPr id="68" name="任意多边形: 形状 46"/>
            <p:cNvSpPr/>
            <p:nvPr/>
          </p:nvSpPr>
          <p:spPr>
            <a:xfrm>
              <a:off x="3727" y="1635"/>
              <a:ext cx="655" cy="244"/>
            </a:xfrm>
            <a:custGeom>
              <a:avLst/>
              <a:gdLst>
                <a:gd name="connsiteX0" fmla="*/ 0 w 898574"/>
                <a:gd name="connsiteY0" fmla="*/ 0 h 641023"/>
                <a:gd name="connsiteX1" fmla="*/ 726663 w 898574"/>
                <a:gd name="connsiteY1" fmla="*/ 0 h 641023"/>
                <a:gd name="connsiteX2" fmla="*/ 898574 w 898574"/>
                <a:gd name="connsiteY2" fmla="*/ 171911 h 641023"/>
                <a:gd name="connsiteX3" fmla="*/ 898574 w 898574"/>
                <a:gd name="connsiteY3" fmla="*/ 641023 h 641023"/>
                <a:gd name="connsiteX4" fmla="*/ 828427 w 898574"/>
                <a:gd name="connsiteY4" fmla="*/ 637481 h 641023"/>
                <a:gd name="connsiteX5" fmla="*/ 12567 w 898574"/>
                <a:gd name="connsiteY5" fmla="*/ 34337 h 641023"/>
                <a:gd name="connsiteX6" fmla="*/ 0 w 898574"/>
                <a:gd name="connsiteY6" fmla="*/ 0 h 64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8574" h="641023">
                  <a:moveTo>
                    <a:pt x="0" y="0"/>
                  </a:moveTo>
                  <a:lnTo>
                    <a:pt x="726663" y="0"/>
                  </a:lnTo>
                  <a:cubicBezTo>
                    <a:pt x="821607" y="0"/>
                    <a:pt x="898574" y="76967"/>
                    <a:pt x="898574" y="171911"/>
                  </a:cubicBezTo>
                  <a:lnTo>
                    <a:pt x="898574" y="641023"/>
                  </a:lnTo>
                  <a:lnTo>
                    <a:pt x="828427" y="637481"/>
                  </a:lnTo>
                  <a:cubicBezTo>
                    <a:pt x="460135" y="600079"/>
                    <a:pt x="151163" y="362012"/>
                    <a:pt x="12567" y="34337"/>
                  </a:cubicBezTo>
                  <a:lnTo>
                    <a:pt x="0" y="0"/>
                  </a:lnTo>
                  <a:close/>
                </a:path>
              </a:pathLst>
            </a:custGeom>
            <a:gradFill>
              <a:gsLst>
                <a:gs pos="14000">
                  <a:schemeClr val="bg1">
                    <a:lumMod val="95000"/>
                    <a:alpha val="0"/>
                  </a:schemeClr>
                </a:gs>
                <a:gs pos="59000">
                  <a:schemeClr val="bg1">
                    <a:lumMod val="85000"/>
                    <a:alpha val="43000"/>
                  </a:schemeClr>
                </a:gs>
                <a:gs pos="82000">
                  <a:schemeClr val="bg1">
                    <a:lumMod val="85000"/>
                    <a:alpha val="72000"/>
                  </a:schemeClr>
                </a:gs>
                <a:gs pos="100000">
                  <a:schemeClr val="bg1">
                    <a:lumMod val="8500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Arial" panose="020B0604020202020204" pitchFamily="34" charset="0"/>
                <a:ea typeface="Arial" panose="020B0604020202020204" pitchFamily="34" charset="0"/>
                <a:sym typeface="Arial" panose="020B0604020202020204" pitchFamily="34" charset="0"/>
              </a:endParaRPr>
            </a:p>
          </p:txBody>
        </p:sp>
      </p:grpSp>
      <p:sp>
        <p:nvSpPr>
          <p:cNvPr id="98" name="文本框 97"/>
          <p:cNvSpPr txBox="1"/>
          <p:nvPr/>
        </p:nvSpPr>
        <p:spPr>
          <a:xfrm>
            <a:off x="1003300" y="2138680"/>
            <a:ext cx="4956810" cy="1553210"/>
          </a:xfrm>
          <a:prstGeom prst="rect">
            <a:avLst/>
          </a:prstGeom>
          <a:noFill/>
          <a:ln w="1905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t" anchorCtr="0">
            <a:noAutofit/>
          </a:bodyPr>
          <a:p>
            <a:pPr indent="0" algn="l">
              <a:lnSpc>
                <a:spcPct val="150000"/>
              </a:lnSpc>
              <a:buClr>
                <a:srgbClr val="FF9001"/>
              </a:buClr>
              <a:buFont typeface="Wingdings" panose="05000000000000000000" pitchFamily="2" charset="2"/>
              <a:buNone/>
              <a:defRPr sz="1400"/>
            </a:pPr>
            <a:r>
              <a:rPr lang="en-US" altLang="zh-CN" sz="1200">
                <a:solidFill>
                  <a:schemeClr val="tx2">
                    <a:lumMod val="75000"/>
                  </a:schemeClr>
                </a:solidFill>
                <a:latin typeface="Arial" panose="020B0604020202020204" pitchFamily="34" charset="0"/>
                <a:cs typeface="Arial" panose="020B0604020202020204" pitchFamily="34" charset="0"/>
                <a:sym typeface="+mn-ea"/>
              </a:rPr>
              <a:t>       </a:t>
            </a:r>
            <a:r>
              <a:rPr lang="zh-CN" altLang="en-US" sz="1200">
                <a:solidFill>
                  <a:schemeClr val="tx2">
                    <a:lumMod val="75000"/>
                  </a:schemeClr>
                </a:solidFill>
                <a:latin typeface="Arial" panose="020B0604020202020204" pitchFamily="34" charset="0"/>
                <a:cs typeface="Arial" panose="020B0604020202020204" pitchFamily="34" charset="0"/>
                <a:sym typeface="+mn-ea"/>
              </a:rPr>
              <a:t>USDT</a:t>
            </a:r>
            <a:r>
              <a:rPr lang="en-US" altLang="zh-CN" sz="1200">
                <a:solidFill>
                  <a:schemeClr val="tx2">
                    <a:lumMod val="75000"/>
                  </a:schemeClr>
                </a:solidFill>
                <a:latin typeface="Arial" panose="020B0604020202020204" pitchFamily="34" charset="0"/>
                <a:cs typeface="Arial" panose="020B0604020202020204" pitchFamily="34" charset="0"/>
                <a:sym typeface="+mn-ea"/>
              </a:rPr>
              <a:t>                                                                 </a:t>
            </a:r>
            <a:r>
              <a:rPr lang="zh-CN" altLang="en-US" sz="1200">
                <a:solidFill>
                  <a:schemeClr val="tx2">
                    <a:lumMod val="75000"/>
                  </a:schemeClr>
                </a:solidFill>
                <a:latin typeface="Arial" panose="020B0604020202020204" pitchFamily="34" charset="0"/>
                <a:cs typeface="Arial" panose="020B0604020202020204" pitchFamily="34" charset="0"/>
                <a:sym typeface="+mn-ea"/>
              </a:rPr>
              <a:t>市值：1180 亿美元</a:t>
            </a:r>
            <a:endParaRPr lang="zh-CN" altLang="en-US" sz="1200">
              <a:solidFill>
                <a:schemeClr val="tx2">
                  <a:lumMod val="75000"/>
                </a:schemeClr>
              </a:solidFill>
              <a:latin typeface="Arial" panose="020B0604020202020204" pitchFamily="34" charset="0"/>
              <a:cs typeface="Arial" panose="020B0604020202020204" pitchFamily="34" charset="0"/>
            </a:endParaRPr>
          </a:p>
          <a:p>
            <a:pPr indent="0" algn="l">
              <a:lnSpc>
                <a:spcPct val="150000"/>
              </a:lnSpc>
              <a:buClr>
                <a:srgbClr val="FF9001"/>
              </a:buClr>
              <a:buFont typeface="Wingdings" panose="05000000000000000000" pitchFamily="2" charset="2"/>
              <a:buNone/>
              <a:defRPr sz="1400"/>
            </a:pPr>
            <a:r>
              <a:rPr lang="zh-CN" altLang="en-US" sz="1200">
                <a:solidFill>
                  <a:schemeClr val="tx2">
                    <a:lumMod val="75000"/>
                  </a:schemeClr>
                </a:solidFill>
                <a:latin typeface="Arial" panose="020B0604020202020204" pitchFamily="34" charset="0"/>
                <a:cs typeface="Arial" panose="020B0604020202020204" pitchFamily="34" charset="0"/>
                <a:sym typeface="+mn-ea"/>
              </a:rPr>
              <a:t>2014年由总部位于香港的Tether Limited公司创建</a:t>
            </a:r>
            <a:endParaRPr lang="zh-CN" altLang="en-US" sz="1200">
              <a:solidFill>
                <a:schemeClr val="tx2">
                  <a:lumMod val="75000"/>
                </a:schemeClr>
              </a:solidFill>
              <a:latin typeface="Arial" panose="020B0604020202020204" pitchFamily="34" charset="0"/>
              <a:cs typeface="Arial" panose="020B0604020202020204" pitchFamily="34" charset="0"/>
            </a:endParaRPr>
          </a:p>
          <a:p>
            <a:pPr indent="0" algn="l">
              <a:lnSpc>
                <a:spcPct val="150000"/>
              </a:lnSpc>
              <a:buClr>
                <a:srgbClr val="FF9001"/>
              </a:buClr>
              <a:buFont typeface="Wingdings" panose="05000000000000000000" pitchFamily="2" charset="2"/>
              <a:buNone/>
              <a:defRPr sz="1400"/>
            </a:pPr>
            <a:r>
              <a:rPr lang="zh-CN" altLang="en-US" sz="1200">
                <a:solidFill>
                  <a:schemeClr val="tx2">
                    <a:lumMod val="75000"/>
                  </a:schemeClr>
                </a:solidFill>
                <a:latin typeface="Arial" panose="020B0604020202020204" pitchFamily="34" charset="0"/>
                <a:cs typeface="Arial" panose="020B0604020202020204" pitchFamily="34" charset="0"/>
                <a:sym typeface="+mn-ea"/>
              </a:rPr>
              <a:t>根据其 6 月的透明度报告，储备主要由美国国债、货币市场基金和隔夜逆回购协议组成，Tether 在今年第一季度创下了 45 亿美元的利润纪录。</a:t>
            </a:r>
            <a:endParaRPr lang="zh-CN" altLang="en-US" sz="1200">
              <a:solidFill>
                <a:schemeClr val="tx2">
                  <a:lumMod val="75000"/>
                </a:schemeClr>
              </a:solidFill>
              <a:latin typeface="Arial" panose="020B0604020202020204" pitchFamily="34" charset="0"/>
              <a:cs typeface="Arial" panose="020B0604020202020204" pitchFamily="34" charset="0"/>
              <a:sym typeface="+mn-ea"/>
            </a:endParaRPr>
          </a:p>
          <a:p>
            <a:pPr algn="l">
              <a:lnSpc>
                <a:spcPct val="150000"/>
              </a:lnSpc>
              <a:buFont typeface="Arial" panose="020B0604020202020204" pitchFamily="34" charset="0"/>
            </a:pPr>
            <a:endParaRPr sz="1200" dirty="0" smtClean="0">
              <a:solidFill>
                <a:schemeClr val="tx1"/>
              </a:solidFill>
              <a:latin typeface="Arial" panose="020B0604020202020204" pitchFamily="34" charset="0"/>
              <a:ea typeface="Arial" panose="020B0604020202020204" pitchFamily="34" charset="0"/>
            </a:endParaRPr>
          </a:p>
        </p:txBody>
      </p:sp>
      <p:grpSp>
        <p:nvGrpSpPr>
          <p:cNvPr id="23" name="组合 22"/>
          <p:cNvGrpSpPr/>
          <p:nvPr/>
        </p:nvGrpSpPr>
        <p:grpSpPr>
          <a:xfrm>
            <a:off x="6214110" y="2110105"/>
            <a:ext cx="5337810" cy="1318895"/>
            <a:chOff x="1291" y="1634"/>
            <a:chExt cx="3091" cy="809"/>
          </a:xfrm>
        </p:grpSpPr>
        <p:sp>
          <p:nvSpPr>
            <p:cNvPr id="24" name="矩形: 圆角 1"/>
            <p:cNvSpPr/>
            <p:nvPr/>
          </p:nvSpPr>
          <p:spPr>
            <a:xfrm>
              <a:off x="1291" y="1634"/>
              <a:ext cx="3091" cy="809"/>
            </a:xfrm>
            <a:prstGeom prst="roundRect">
              <a:avLst>
                <a:gd name="adj" fmla="val 1131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solidFill>
                  <a:schemeClr val="bg1"/>
                </a:solidFill>
                <a:latin typeface="Arial" panose="020B0604020202020204" pitchFamily="34" charset="0"/>
                <a:ea typeface="Arial" panose="020B0604020202020204" pitchFamily="34" charset="0"/>
                <a:sym typeface="Arial" panose="020B0604020202020204" pitchFamily="34" charset="0"/>
              </a:endParaRPr>
            </a:p>
          </p:txBody>
        </p:sp>
        <p:sp>
          <p:nvSpPr>
            <p:cNvPr id="25" name="任意多边形: 形状 46"/>
            <p:cNvSpPr/>
            <p:nvPr/>
          </p:nvSpPr>
          <p:spPr>
            <a:xfrm>
              <a:off x="3727" y="1635"/>
              <a:ext cx="655" cy="244"/>
            </a:xfrm>
            <a:custGeom>
              <a:avLst/>
              <a:gdLst>
                <a:gd name="connsiteX0" fmla="*/ 0 w 898574"/>
                <a:gd name="connsiteY0" fmla="*/ 0 h 641023"/>
                <a:gd name="connsiteX1" fmla="*/ 726663 w 898574"/>
                <a:gd name="connsiteY1" fmla="*/ 0 h 641023"/>
                <a:gd name="connsiteX2" fmla="*/ 898574 w 898574"/>
                <a:gd name="connsiteY2" fmla="*/ 171911 h 641023"/>
                <a:gd name="connsiteX3" fmla="*/ 898574 w 898574"/>
                <a:gd name="connsiteY3" fmla="*/ 641023 h 641023"/>
                <a:gd name="connsiteX4" fmla="*/ 828427 w 898574"/>
                <a:gd name="connsiteY4" fmla="*/ 637481 h 641023"/>
                <a:gd name="connsiteX5" fmla="*/ 12567 w 898574"/>
                <a:gd name="connsiteY5" fmla="*/ 34337 h 641023"/>
                <a:gd name="connsiteX6" fmla="*/ 0 w 898574"/>
                <a:gd name="connsiteY6" fmla="*/ 0 h 64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8574" h="641023">
                  <a:moveTo>
                    <a:pt x="0" y="0"/>
                  </a:moveTo>
                  <a:lnTo>
                    <a:pt x="726663" y="0"/>
                  </a:lnTo>
                  <a:cubicBezTo>
                    <a:pt x="821607" y="0"/>
                    <a:pt x="898574" y="76967"/>
                    <a:pt x="898574" y="171911"/>
                  </a:cubicBezTo>
                  <a:lnTo>
                    <a:pt x="898574" y="641023"/>
                  </a:lnTo>
                  <a:lnTo>
                    <a:pt x="828427" y="637481"/>
                  </a:lnTo>
                  <a:cubicBezTo>
                    <a:pt x="460135" y="600079"/>
                    <a:pt x="151163" y="362012"/>
                    <a:pt x="12567" y="34337"/>
                  </a:cubicBezTo>
                  <a:lnTo>
                    <a:pt x="0" y="0"/>
                  </a:lnTo>
                  <a:close/>
                </a:path>
              </a:pathLst>
            </a:custGeom>
            <a:gradFill>
              <a:gsLst>
                <a:gs pos="14000">
                  <a:schemeClr val="bg1">
                    <a:lumMod val="95000"/>
                    <a:alpha val="0"/>
                  </a:schemeClr>
                </a:gs>
                <a:gs pos="59000">
                  <a:schemeClr val="bg1">
                    <a:lumMod val="85000"/>
                    <a:alpha val="43000"/>
                  </a:schemeClr>
                </a:gs>
                <a:gs pos="82000">
                  <a:schemeClr val="bg1">
                    <a:lumMod val="85000"/>
                    <a:alpha val="72000"/>
                  </a:schemeClr>
                </a:gs>
                <a:gs pos="100000">
                  <a:schemeClr val="bg1">
                    <a:lumMod val="8500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Arial" panose="020B0604020202020204" pitchFamily="34" charset="0"/>
                <a:ea typeface="Arial" panose="020B0604020202020204" pitchFamily="34" charset="0"/>
                <a:sym typeface="Arial" panose="020B0604020202020204" pitchFamily="34" charset="0"/>
              </a:endParaRPr>
            </a:p>
          </p:txBody>
        </p:sp>
      </p:grpSp>
      <p:sp>
        <p:nvSpPr>
          <p:cNvPr id="26" name="文本框 25"/>
          <p:cNvSpPr txBox="1"/>
          <p:nvPr/>
        </p:nvSpPr>
        <p:spPr>
          <a:xfrm>
            <a:off x="6459220" y="2140585"/>
            <a:ext cx="4956810" cy="1191895"/>
          </a:xfrm>
          <a:prstGeom prst="rect">
            <a:avLst/>
          </a:prstGeom>
          <a:noFill/>
          <a:ln w="1905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t" anchorCtr="0">
            <a:noAutofit/>
          </a:bodyPr>
          <a:p>
            <a:pPr indent="0" algn="l">
              <a:lnSpc>
                <a:spcPct val="150000"/>
              </a:lnSpc>
              <a:buClr>
                <a:srgbClr val="FF9001"/>
              </a:buClr>
              <a:buFont typeface="Wingdings" panose="05000000000000000000" pitchFamily="2" charset="2"/>
              <a:buNone/>
              <a:defRPr sz="1400"/>
            </a:pPr>
            <a:r>
              <a:rPr lang="en-US" altLang="zh-CN" sz="1200">
                <a:solidFill>
                  <a:schemeClr val="tx2">
                    <a:lumMod val="75000"/>
                  </a:schemeClr>
                </a:solidFill>
                <a:latin typeface="Arial" panose="020B0604020202020204" pitchFamily="34" charset="0"/>
                <a:cs typeface="Arial" panose="020B0604020202020204" pitchFamily="34" charset="0"/>
                <a:sym typeface="+mn-ea"/>
              </a:rPr>
              <a:t>      </a:t>
            </a:r>
            <a:r>
              <a:rPr lang="zh-CN" altLang="en-US" sz="1200">
                <a:solidFill>
                  <a:schemeClr val="tx2">
                    <a:lumMod val="75000"/>
                  </a:schemeClr>
                </a:solidFill>
                <a:latin typeface="Arial" panose="020B0604020202020204" pitchFamily="34" charset="0"/>
                <a:cs typeface="Arial" panose="020B0604020202020204" pitchFamily="34" charset="0"/>
                <a:sym typeface="+mn-ea"/>
              </a:rPr>
              <a:t>USDC</a:t>
            </a:r>
            <a:r>
              <a:rPr lang="en-US" altLang="zh-CN" sz="1200">
                <a:solidFill>
                  <a:schemeClr val="tx2">
                    <a:lumMod val="75000"/>
                  </a:schemeClr>
                </a:solidFill>
                <a:latin typeface="Arial" panose="020B0604020202020204" pitchFamily="34" charset="0"/>
                <a:cs typeface="Arial" panose="020B0604020202020204" pitchFamily="34" charset="0"/>
                <a:sym typeface="+mn-ea"/>
              </a:rPr>
              <a:t>                                                                    </a:t>
            </a:r>
            <a:r>
              <a:rPr lang="zh-CN" altLang="en-US" sz="1200">
                <a:solidFill>
                  <a:schemeClr val="tx2">
                    <a:lumMod val="75000"/>
                  </a:schemeClr>
                </a:solidFill>
                <a:latin typeface="Arial" panose="020B0604020202020204" pitchFamily="34" charset="0"/>
                <a:cs typeface="Arial" panose="020B0604020202020204" pitchFamily="34" charset="0"/>
                <a:sym typeface="+mn-ea"/>
              </a:rPr>
              <a:t>市值：338 亿美元</a:t>
            </a:r>
            <a:endParaRPr lang="zh-CN" altLang="en-US" sz="1200">
              <a:solidFill>
                <a:schemeClr val="tx2">
                  <a:lumMod val="75000"/>
                </a:schemeClr>
              </a:solidFill>
              <a:latin typeface="Arial" panose="020B0604020202020204" pitchFamily="34" charset="0"/>
              <a:cs typeface="Arial" panose="020B0604020202020204" pitchFamily="34" charset="0"/>
            </a:endParaRPr>
          </a:p>
          <a:p>
            <a:pPr indent="0" algn="l">
              <a:lnSpc>
                <a:spcPct val="150000"/>
              </a:lnSpc>
              <a:buClr>
                <a:srgbClr val="FF9001"/>
              </a:buClr>
              <a:buFont typeface="Wingdings" panose="05000000000000000000" pitchFamily="2" charset="2"/>
              <a:buNone/>
              <a:defRPr sz="1400"/>
            </a:pPr>
            <a:r>
              <a:rPr lang="zh-CN" altLang="en-US" sz="1200">
                <a:solidFill>
                  <a:schemeClr val="tx2">
                    <a:lumMod val="75000"/>
                  </a:schemeClr>
                </a:solidFill>
                <a:latin typeface="Arial" panose="020B0604020202020204" pitchFamily="34" charset="0"/>
                <a:cs typeface="Arial" panose="020B0604020202020204" pitchFamily="34" charset="0"/>
                <a:sym typeface="+mn-ea"/>
              </a:rPr>
              <a:t>2018年由美国公司Circle创建，底层技术由 Coinbase 和 Circle 联合开发</a:t>
            </a:r>
            <a:endParaRPr lang="zh-CN" altLang="en-US" sz="1200">
              <a:solidFill>
                <a:schemeClr val="tx2">
                  <a:lumMod val="75000"/>
                </a:schemeClr>
              </a:solidFill>
              <a:latin typeface="Arial" panose="020B0604020202020204" pitchFamily="34" charset="0"/>
              <a:cs typeface="Arial" panose="020B0604020202020204" pitchFamily="34" charset="0"/>
            </a:endParaRPr>
          </a:p>
          <a:p>
            <a:pPr indent="0" algn="l">
              <a:lnSpc>
                <a:spcPct val="150000"/>
              </a:lnSpc>
              <a:buClr>
                <a:srgbClr val="FF9001"/>
              </a:buClr>
              <a:buFont typeface="Wingdings" panose="05000000000000000000" pitchFamily="2" charset="2"/>
              <a:buNone/>
              <a:defRPr sz="1400"/>
            </a:pPr>
            <a:r>
              <a:rPr lang="zh-CN" altLang="en-US" sz="1200">
                <a:solidFill>
                  <a:schemeClr val="tx2">
                    <a:lumMod val="75000"/>
                  </a:schemeClr>
                </a:solidFill>
                <a:latin typeface="Arial" panose="020B0604020202020204" pitchFamily="34" charset="0"/>
                <a:cs typeface="Arial" panose="020B0604020202020204" pitchFamily="34" charset="0"/>
                <a:sym typeface="+mn-ea"/>
              </a:rPr>
              <a:t>USDC 对美国监管机构的严格遵守和合规性，将自己打造为完全受监管、透明的稳定币，让其在交易量上超过 USDT</a:t>
            </a:r>
            <a:endParaRPr lang="zh-CN" altLang="en-US" sz="1200">
              <a:solidFill>
                <a:schemeClr val="tx2">
                  <a:lumMod val="75000"/>
                </a:schemeClr>
              </a:solidFill>
              <a:latin typeface="Arial" panose="020B0604020202020204" pitchFamily="34" charset="0"/>
              <a:cs typeface="Arial" panose="020B0604020202020204" pitchFamily="34" charset="0"/>
              <a:sym typeface="+mn-ea"/>
            </a:endParaRPr>
          </a:p>
          <a:p>
            <a:pPr algn="l">
              <a:lnSpc>
                <a:spcPct val="150000"/>
              </a:lnSpc>
              <a:buFont typeface="Arial" panose="020B0604020202020204" pitchFamily="34" charset="0"/>
            </a:pPr>
            <a:endParaRPr sz="1200" dirty="0" smtClean="0">
              <a:solidFill>
                <a:schemeClr val="tx1"/>
              </a:solidFill>
              <a:latin typeface="Arial" panose="020B0604020202020204" pitchFamily="34" charset="0"/>
              <a:ea typeface="Arial" panose="020B0604020202020204" pitchFamily="34" charset="0"/>
            </a:endParaRPr>
          </a:p>
        </p:txBody>
      </p:sp>
      <p:grpSp>
        <p:nvGrpSpPr>
          <p:cNvPr id="27" name="组合 26"/>
          <p:cNvGrpSpPr/>
          <p:nvPr/>
        </p:nvGrpSpPr>
        <p:grpSpPr>
          <a:xfrm>
            <a:off x="758190" y="4909185"/>
            <a:ext cx="5337810" cy="1583690"/>
            <a:chOff x="1291" y="1634"/>
            <a:chExt cx="3091" cy="809"/>
          </a:xfrm>
        </p:grpSpPr>
        <p:sp>
          <p:nvSpPr>
            <p:cNvPr id="28" name="矩形: 圆角 1"/>
            <p:cNvSpPr/>
            <p:nvPr/>
          </p:nvSpPr>
          <p:spPr>
            <a:xfrm>
              <a:off x="1291" y="1634"/>
              <a:ext cx="3091" cy="809"/>
            </a:xfrm>
            <a:prstGeom prst="roundRect">
              <a:avLst>
                <a:gd name="adj" fmla="val 1131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solidFill>
                  <a:schemeClr val="bg1"/>
                </a:solidFill>
                <a:latin typeface="Arial" panose="020B0604020202020204" pitchFamily="34" charset="0"/>
                <a:ea typeface="Arial" panose="020B0604020202020204" pitchFamily="34" charset="0"/>
                <a:sym typeface="Arial" panose="020B0604020202020204" pitchFamily="34" charset="0"/>
              </a:endParaRPr>
            </a:p>
          </p:txBody>
        </p:sp>
        <p:sp>
          <p:nvSpPr>
            <p:cNvPr id="29" name="任意多边形: 形状 46"/>
            <p:cNvSpPr/>
            <p:nvPr/>
          </p:nvSpPr>
          <p:spPr>
            <a:xfrm>
              <a:off x="3727" y="1635"/>
              <a:ext cx="655" cy="244"/>
            </a:xfrm>
            <a:custGeom>
              <a:avLst/>
              <a:gdLst>
                <a:gd name="connsiteX0" fmla="*/ 0 w 898574"/>
                <a:gd name="connsiteY0" fmla="*/ 0 h 641023"/>
                <a:gd name="connsiteX1" fmla="*/ 726663 w 898574"/>
                <a:gd name="connsiteY1" fmla="*/ 0 h 641023"/>
                <a:gd name="connsiteX2" fmla="*/ 898574 w 898574"/>
                <a:gd name="connsiteY2" fmla="*/ 171911 h 641023"/>
                <a:gd name="connsiteX3" fmla="*/ 898574 w 898574"/>
                <a:gd name="connsiteY3" fmla="*/ 641023 h 641023"/>
                <a:gd name="connsiteX4" fmla="*/ 828427 w 898574"/>
                <a:gd name="connsiteY4" fmla="*/ 637481 h 641023"/>
                <a:gd name="connsiteX5" fmla="*/ 12567 w 898574"/>
                <a:gd name="connsiteY5" fmla="*/ 34337 h 641023"/>
                <a:gd name="connsiteX6" fmla="*/ 0 w 898574"/>
                <a:gd name="connsiteY6" fmla="*/ 0 h 64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8574" h="641023">
                  <a:moveTo>
                    <a:pt x="0" y="0"/>
                  </a:moveTo>
                  <a:lnTo>
                    <a:pt x="726663" y="0"/>
                  </a:lnTo>
                  <a:cubicBezTo>
                    <a:pt x="821607" y="0"/>
                    <a:pt x="898574" y="76967"/>
                    <a:pt x="898574" y="171911"/>
                  </a:cubicBezTo>
                  <a:lnTo>
                    <a:pt x="898574" y="641023"/>
                  </a:lnTo>
                  <a:lnTo>
                    <a:pt x="828427" y="637481"/>
                  </a:lnTo>
                  <a:cubicBezTo>
                    <a:pt x="460135" y="600079"/>
                    <a:pt x="151163" y="362012"/>
                    <a:pt x="12567" y="34337"/>
                  </a:cubicBezTo>
                  <a:lnTo>
                    <a:pt x="0" y="0"/>
                  </a:lnTo>
                  <a:close/>
                </a:path>
              </a:pathLst>
            </a:custGeom>
            <a:gradFill>
              <a:gsLst>
                <a:gs pos="14000">
                  <a:schemeClr val="bg1">
                    <a:lumMod val="95000"/>
                    <a:alpha val="0"/>
                  </a:schemeClr>
                </a:gs>
                <a:gs pos="59000">
                  <a:schemeClr val="bg1">
                    <a:lumMod val="85000"/>
                    <a:alpha val="43000"/>
                  </a:schemeClr>
                </a:gs>
                <a:gs pos="82000">
                  <a:schemeClr val="bg1">
                    <a:lumMod val="85000"/>
                    <a:alpha val="72000"/>
                  </a:schemeClr>
                </a:gs>
                <a:gs pos="100000">
                  <a:schemeClr val="bg1">
                    <a:lumMod val="8500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Arial" panose="020B0604020202020204" pitchFamily="34" charset="0"/>
                <a:ea typeface="Arial" panose="020B0604020202020204" pitchFamily="34" charset="0"/>
                <a:sym typeface="Arial" panose="020B0604020202020204" pitchFamily="34" charset="0"/>
              </a:endParaRPr>
            </a:p>
          </p:txBody>
        </p:sp>
      </p:grpSp>
      <p:sp>
        <p:nvSpPr>
          <p:cNvPr id="30" name="文本框 29"/>
          <p:cNvSpPr txBox="1"/>
          <p:nvPr/>
        </p:nvSpPr>
        <p:spPr>
          <a:xfrm>
            <a:off x="1003300" y="4939665"/>
            <a:ext cx="4956810" cy="1553210"/>
          </a:xfrm>
          <a:prstGeom prst="rect">
            <a:avLst/>
          </a:prstGeom>
          <a:noFill/>
          <a:ln w="1905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t" anchorCtr="0">
            <a:noAutofit/>
          </a:bodyPr>
          <a:p>
            <a:pPr indent="457200" algn="l">
              <a:lnSpc>
                <a:spcPct val="150000"/>
              </a:lnSpc>
              <a:buClr>
                <a:srgbClr val="FF9001"/>
              </a:buClr>
              <a:buFont typeface="Wingdings" panose="05000000000000000000" pitchFamily="2" charset="2"/>
              <a:buNone/>
              <a:defRPr sz="1400"/>
            </a:pPr>
            <a:r>
              <a:rPr lang="en-US" altLang="zh-CN" sz="1200">
                <a:solidFill>
                  <a:schemeClr val="tx2">
                    <a:lumMod val="75000"/>
                  </a:schemeClr>
                </a:solidFill>
                <a:latin typeface="Arial" panose="020B0604020202020204" pitchFamily="34" charset="0"/>
                <a:cs typeface="Arial" panose="020B0604020202020204" pitchFamily="34" charset="0"/>
                <a:sym typeface="+mn-ea"/>
              </a:rPr>
              <a:t>          </a:t>
            </a:r>
            <a:r>
              <a:rPr lang="zh-CN" altLang="en-US" sz="1200">
                <a:solidFill>
                  <a:schemeClr val="tx2">
                    <a:lumMod val="75000"/>
                  </a:schemeClr>
                </a:solidFill>
                <a:latin typeface="Arial" panose="020B0604020202020204" pitchFamily="34" charset="0"/>
                <a:cs typeface="Arial" panose="020B0604020202020204" pitchFamily="34" charset="0"/>
                <a:sym typeface="+mn-ea"/>
              </a:rPr>
              <a:t>Ripple 是一个由银行和支付提供商组成的去中心化网络，提供全球实时汇款、国际供应链支付、电子发票等服务，利用区块链支付协议摆脱了漫长的货币兑换过程和昂贵的国际电汇，实现3</a:t>
            </a:r>
            <a:r>
              <a:rPr lang="en-US" altLang="zh-CN" sz="1200">
                <a:solidFill>
                  <a:schemeClr val="tx2">
                    <a:lumMod val="75000"/>
                  </a:schemeClr>
                </a:solidFill>
                <a:latin typeface="Arial" panose="020B0604020202020204" pitchFamily="34" charset="0"/>
                <a:cs typeface="Arial" panose="020B0604020202020204" pitchFamily="34" charset="0"/>
                <a:sym typeface="+mn-ea"/>
              </a:rPr>
              <a:t>~</a:t>
            </a:r>
            <a:r>
              <a:rPr lang="zh-CN" altLang="en-US" sz="1200">
                <a:solidFill>
                  <a:schemeClr val="tx2">
                    <a:lumMod val="75000"/>
                  </a:schemeClr>
                </a:solidFill>
                <a:latin typeface="Arial" panose="020B0604020202020204" pitchFamily="34" charset="0"/>
                <a:cs typeface="Arial" panose="020B0604020202020204" pitchFamily="34" charset="0"/>
                <a:sym typeface="+mn-ea"/>
              </a:rPr>
              <a:t>5秒的跨境交易。Ripple 与全球的银行和金融机构合作，关键合作伙伴包括桑坦德银行、美国运通、SBI 控股和 PNC 银行。 目前交易总额已达500亿美元。</a:t>
            </a:r>
            <a:endParaRPr sz="1200" dirty="0" smtClean="0">
              <a:solidFill>
                <a:schemeClr val="tx1"/>
              </a:solidFill>
              <a:latin typeface="Arial" panose="020B0604020202020204" pitchFamily="34" charset="0"/>
              <a:ea typeface="Arial" panose="020B0604020202020204" pitchFamily="34" charset="0"/>
            </a:endParaRPr>
          </a:p>
        </p:txBody>
      </p:sp>
      <p:grpSp>
        <p:nvGrpSpPr>
          <p:cNvPr id="31" name="组合 30"/>
          <p:cNvGrpSpPr/>
          <p:nvPr/>
        </p:nvGrpSpPr>
        <p:grpSpPr>
          <a:xfrm>
            <a:off x="6214110" y="4909185"/>
            <a:ext cx="5337810" cy="1583690"/>
            <a:chOff x="1291" y="1634"/>
            <a:chExt cx="3091" cy="809"/>
          </a:xfrm>
        </p:grpSpPr>
        <p:sp>
          <p:nvSpPr>
            <p:cNvPr id="32" name="矩形: 圆角 1"/>
            <p:cNvSpPr/>
            <p:nvPr/>
          </p:nvSpPr>
          <p:spPr>
            <a:xfrm>
              <a:off x="1291" y="1634"/>
              <a:ext cx="3091" cy="809"/>
            </a:xfrm>
            <a:prstGeom prst="roundRect">
              <a:avLst>
                <a:gd name="adj" fmla="val 1131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solidFill>
                  <a:schemeClr val="bg1"/>
                </a:solidFill>
                <a:latin typeface="Arial" panose="020B0604020202020204" pitchFamily="34" charset="0"/>
                <a:ea typeface="Arial" panose="020B0604020202020204" pitchFamily="34" charset="0"/>
                <a:sym typeface="Arial" panose="020B0604020202020204" pitchFamily="34" charset="0"/>
              </a:endParaRPr>
            </a:p>
          </p:txBody>
        </p:sp>
        <p:sp>
          <p:nvSpPr>
            <p:cNvPr id="33" name="任意多边形: 形状 46"/>
            <p:cNvSpPr/>
            <p:nvPr/>
          </p:nvSpPr>
          <p:spPr>
            <a:xfrm>
              <a:off x="3727" y="1635"/>
              <a:ext cx="655" cy="244"/>
            </a:xfrm>
            <a:custGeom>
              <a:avLst/>
              <a:gdLst>
                <a:gd name="connsiteX0" fmla="*/ 0 w 898574"/>
                <a:gd name="connsiteY0" fmla="*/ 0 h 641023"/>
                <a:gd name="connsiteX1" fmla="*/ 726663 w 898574"/>
                <a:gd name="connsiteY1" fmla="*/ 0 h 641023"/>
                <a:gd name="connsiteX2" fmla="*/ 898574 w 898574"/>
                <a:gd name="connsiteY2" fmla="*/ 171911 h 641023"/>
                <a:gd name="connsiteX3" fmla="*/ 898574 w 898574"/>
                <a:gd name="connsiteY3" fmla="*/ 641023 h 641023"/>
                <a:gd name="connsiteX4" fmla="*/ 828427 w 898574"/>
                <a:gd name="connsiteY4" fmla="*/ 637481 h 641023"/>
                <a:gd name="connsiteX5" fmla="*/ 12567 w 898574"/>
                <a:gd name="connsiteY5" fmla="*/ 34337 h 641023"/>
                <a:gd name="connsiteX6" fmla="*/ 0 w 898574"/>
                <a:gd name="connsiteY6" fmla="*/ 0 h 64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8574" h="641023">
                  <a:moveTo>
                    <a:pt x="0" y="0"/>
                  </a:moveTo>
                  <a:lnTo>
                    <a:pt x="726663" y="0"/>
                  </a:lnTo>
                  <a:cubicBezTo>
                    <a:pt x="821607" y="0"/>
                    <a:pt x="898574" y="76967"/>
                    <a:pt x="898574" y="171911"/>
                  </a:cubicBezTo>
                  <a:lnTo>
                    <a:pt x="898574" y="641023"/>
                  </a:lnTo>
                  <a:lnTo>
                    <a:pt x="828427" y="637481"/>
                  </a:lnTo>
                  <a:cubicBezTo>
                    <a:pt x="460135" y="600079"/>
                    <a:pt x="151163" y="362012"/>
                    <a:pt x="12567" y="34337"/>
                  </a:cubicBezTo>
                  <a:lnTo>
                    <a:pt x="0" y="0"/>
                  </a:lnTo>
                  <a:close/>
                </a:path>
              </a:pathLst>
            </a:custGeom>
            <a:gradFill>
              <a:gsLst>
                <a:gs pos="14000">
                  <a:schemeClr val="bg1">
                    <a:lumMod val="95000"/>
                    <a:alpha val="0"/>
                  </a:schemeClr>
                </a:gs>
                <a:gs pos="59000">
                  <a:schemeClr val="bg1">
                    <a:lumMod val="85000"/>
                    <a:alpha val="43000"/>
                  </a:schemeClr>
                </a:gs>
                <a:gs pos="82000">
                  <a:schemeClr val="bg1">
                    <a:lumMod val="85000"/>
                    <a:alpha val="72000"/>
                  </a:schemeClr>
                </a:gs>
                <a:gs pos="100000">
                  <a:schemeClr val="bg1">
                    <a:lumMod val="8500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Arial" panose="020B0604020202020204" pitchFamily="34" charset="0"/>
                <a:ea typeface="Arial" panose="020B0604020202020204" pitchFamily="34" charset="0"/>
                <a:sym typeface="Arial" panose="020B0604020202020204" pitchFamily="34" charset="0"/>
              </a:endParaRPr>
            </a:p>
          </p:txBody>
        </p:sp>
      </p:grpSp>
      <p:sp>
        <p:nvSpPr>
          <p:cNvPr id="34" name="文本框 33"/>
          <p:cNvSpPr txBox="1"/>
          <p:nvPr/>
        </p:nvSpPr>
        <p:spPr>
          <a:xfrm>
            <a:off x="6459220" y="4939665"/>
            <a:ext cx="4956810" cy="1553210"/>
          </a:xfrm>
          <a:prstGeom prst="rect">
            <a:avLst/>
          </a:prstGeom>
          <a:noFill/>
          <a:ln w="1905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t" anchorCtr="0">
            <a:noAutofit/>
          </a:bodyPr>
          <a:p>
            <a:pPr indent="0" algn="l">
              <a:lnSpc>
                <a:spcPct val="150000"/>
              </a:lnSpc>
              <a:buClr>
                <a:srgbClr val="FF9001"/>
              </a:buClr>
              <a:buFont typeface="Wingdings" panose="05000000000000000000" pitchFamily="2" charset="2"/>
              <a:buNone/>
              <a:defRPr sz="1400"/>
            </a:pPr>
            <a:r>
              <a:rPr lang="en-US" altLang="zh-CN" sz="1200">
                <a:solidFill>
                  <a:schemeClr val="tx2">
                    <a:lumMod val="75000"/>
                  </a:schemeClr>
                </a:solidFill>
                <a:latin typeface="Arial" panose="020B0604020202020204" pitchFamily="34" charset="0"/>
                <a:cs typeface="Arial" panose="020B0604020202020204" pitchFamily="34" charset="0"/>
                <a:sym typeface="+mn-ea"/>
              </a:rPr>
              <a:t>       	 </a:t>
            </a:r>
            <a:r>
              <a:rPr lang="zh-CN" altLang="en-US" sz="1200">
                <a:solidFill>
                  <a:schemeClr val="tx2">
                    <a:lumMod val="75000"/>
                  </a:schemeClr>
                </a:solidFill>
                <a:latin typeface="Arial" panose="020B0604020202020204" pitchFamily="34" charset="0"/>
                <a:cs typeface="Arial" panose="020B0604020202020204" pitchFamily="34" charset="0"/>
                <a:sym typeface="+mn-ea"/>
              </a:rPr>
              <a:t>PayPal 去年8月推出了其稳定币支付解决方案 </a:t>
            </a:r>
            <a:r>
              <a:rPr lang="zh-CN" altLang="en-US" sz="1200">
                <a:solidFill>
                  <a:schemeClr val="tx2">
                    <a:lumMod val="75000"/>
                  </a:schemeClr>
                </a:solidFill>
                <a:latin typeface="Arial" panose="020B0604020202020204" pitchFamily="34" charset="0"/>
                <a:cs typeface="Arial" panose="020B0604020202020204" pitchFamily="34" charset="0"/>
                <a:sym typeface="+mn-ea"/>
              </a:rPr>
              <a:t>PYUSD</a:t>
            </a:r>
            <a:r>
              <a:rPr lang="zh-CN" altLang="en-US" sz="1200">
                <a:solidFill>
                  <a:schemeClr val="tx2">
                    <a:lumMod val="75000"/>
                  </a:schemeClr>
                </a:solidFill>
                <a:latin typeface="Arial" panose="020B0604020202020204" pitchFamily="34" charset="0"/>
                <a:cs typeface="Arial" panose="020B0604020202020204" pitchFamily="34" charset="0"/>
                <a:sym typeface="+mn-ea"/>
              </a:rPr>
              <a:t>，发行方为Paxos，定期会定期提供储备资产证明，目前已在以太坊和Solana主网上线，其落地场景包含跨境转账汇款（P2P）、企业间转账（B2B）、全球收付（B2C）、小额交易等，依赖PayPal 生态系统的优势和近乎即时、低成本的能力，上线</a:t>
            </a:r>
            <a:r>
              <a:rPr lang="en-US" altLang="zh-CN" sz="1200">
                <a:solidFill>
                  <a:schemeClr val="tx2">
                    <a:lumMod val="75000"/>
                  </a:schemeClr>
                </a:solidFill>
                <a:latin typeface="Arial" panose="020B0604020202020204" pitchFamily="34" charset="0"/>
                <a:cs typeface="Arial" panose="020B0604020202020204" pitchFamily="34" charset="0"/>
                <a:sym typeface="+mn-ea"/>
              </a:rPr>
              <a:t>1</a:t>
            </a:r>
            <a:r>
              <a:rPr lang="zh-CN" altLang="en-US" sz="1200">
                <a:solidFill>
                  <a:schemeClr val="tx2">
                    <a:lumMod val="75000"/>
                  </a:schemeClr>
                </a:solidFill>
                <a:latin typeface="Arial" panose="020B0604020202020204" pitchFamily="34" charset="0"/>
                <a:cs typeface="Arial" panose="020B0604020202020204" pitchFamily="34" charset="0"/>
                <a:sym typeface="+mn-ea"/>
              </a:rPr>
              <a:t>年已成长为第六大稳定币。</a:t>
            </a:r>
            <a:endParaRPr lang="zh-CN" altLang="en-US" sz="1200">
              <a:solidFill>
                <a:schemeClr val="tx2">
                  <a:lumMod val="75000"/>
                </a:schemeClr>
              </a:solidFill>
              <a:latin typeface="Arial" panose="020B0604020202020204" pitchFamily="34" charset="0"/>
              <a:cs typeface="Arial" panose="020B0604020202020204" pitchFamily="34" charset="0"/>
              <a:sym typeface="+mn-ea"/>
            </a:endParaRPr>
          </a:p>
          <a:p>
            <a:pPr indent="0" algn="l">
              <a:lnSpc>
                <a:spcPct val="150000"/>
              </a:lnSpc>
              <a:buClr>
                <a:srgbClr val="FF9001"/>
              </a:buClr>
              <a:buFont typeface="Wingdings" panose="05000000000000000000" pitchFamily="2" charset="2"/>
              <a:buNone/>
              <a:defRPr sz="1400"/>
            </a:pPr>
            <a:endParaRPr sz="1200" dirty="0" smtClean="0">
              <a:solidFill>
                <a:schemeClr val="tx1"/>
              </a:solidFill>
              <a:latin typeface="Arial" panose="020B0604020202020204" pitchFamily="34" charset="0"/>
              <a:ea typeface="Arial" panose="020B0604020202020204" pitchFamily="34" charset="0"/>
            </a:endParaRPr>
          </a:p>
        </p:txBody>
      </p:sp>
      <p:pic>
        <p:nvPicPr>
          <p:cNvPr id="2" name="图片 1"/>
          <p:cNvPicPr>
            <a:picLocks noChangeAspect="1"/>
          </p:cNvPicPr>
          <p:nvPr/>
        </p:nvPicPr>
        <p:blipFill>
          <a:blip r:embed="rId1"/>
          <a:stretch>
            <a:fillRect/>
          </a:stretch>
        </p:blipFill>
        <p:spPr>
          <a:xfrm>
            <a:off x="758190" y="2009140"/>
            <a:ext cx="492125" cy="499110"/>
          </a:xfrm>
          <a:prstGeom prst="rect">
            <a:avLst/>
          </a:prstGeom>
        </p:spPr>
      </p:pic>
      <p:pic>
        <p:nvPicPr>
          <p:cNvPr id="3" name="图片 2"/>
          <p:cNvPicPr>
            <a:picLocks noChangeAspect="1"/>
          </p:cNvPicPr>
          <p:nvPr/>
        </p:nvPicPr>
        <p:blipFill>
          <a:blip r:embed="rId2"/>
          <a:stretch>
            <a:fillRect/>
          </a:stretch>
        </p:blipFill>
        <p:spPr>
          <a:xfrm>
            <a:off x="6179185" y="2049145"/>
            <a:ext cx="483870" cy="470535"/>
          </a:xfrm>
          <a:prstGeom prst="rect">
            <a:avLst/>
          </a:prstGeom>
        </p:spPr>
      </p:pic>
      <p:pic>
        <p:nvPicPr>
          <p:cNvPr id="6" name="图片 5"/>
          <p:cNvPicPr>
            <a:picLocks noChangeAspect="1"/>
          </p:cNvPicPr>
          <p:nvPr/>
        </p:nvPicPr>
        <p:blipFill>
          <a:blip r:embed="rId3"/>
          <a:stretch>
            <a:fillRect/>
          </a:stretch>
        </p:blipFill>
        <p:spPr>
          <a:xfrm>
            <a:off x="632460" y="4883785"/>
            <a:ext cx="1276985" cy="385445"/>
          </a:xfrm>
          <a:prstGeom prst="rect">
            <a:avLst/>
          </a:prstGeom>
        </p:spPr>
      </p:pic>
      <p:pic>
        <p:nvPicPr>
          <p:cNvPr id="17" name="图片 16"/>
          <p:cNvPicPr>
            <a:picLocks noChangeAspect="1"/>
          </p:cNvPicPr>
          <p:nvPr/>
        </p:nvPicPr>
        <p:blipFill>
          <a:blip r:embed="rId4"/>
          <a:stretch>
            <a:fillRect/>
          </a:stretch>
        </p:blipFill>
        <p:spPr>
          <a:xfrm>
            <a:off x="6096000" y="4822825"/>
            <a:ext cx="1305560" cy="463550"/>
          </a:xfrm>
          <a:prstGeom prst="rect">
            <a:avLst/>
          </a:prstGeom>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文本框 29"/>
          <p:cNvSpPr txBox="1"/>
          <p:nvPr/>
        </p:nvSpPr>
        <p:spPr>
          <a:xfrm>
            <a:off x="6157595" y="828040"/>
            <a:ext cx="5165725" cy="2353310"/>
          </a:xfrm>
          <a:prstGeom prst="rect">
            <a:avLst/>
          </a:prstGeom>
          <a:noFill/>
        </p:spPr>
        <p:txBody>
          <a:bodyPr wrap="square" rtlCol="0" anchor="t">
            <a:spAutoFit/>
          </a:bodyPr>
          <a:p>
            <a:pPr marL="285750" indent="-285750" algn="l">
              <a:lnSpc>
                <a:spcPct val="150000"/>
              </a:lnSpc>
              <a:buClr>
                <a:srgbClr val="FF9001"/>
              </a:buClr>
              <a:buFont typeface="Wingdings" panose="05000000000000000000" pitchFamily="2" charset="2"/>
              <a:buChar char="ü"/>
              <a:defRPr sz="1400"/>
            </a:pPr>
            <a:r>
              <a:rPr lang="zh-CN" altLang="en-US" sz="1400">
                <a:solidFill>
                  <a:schemeClr val="tx2">
                    <a:lumMod val="75000"/>
                  </a:schemeClr>
                </a:solidFill>
                <a:latin typeface="Arial" panose="020B0604020202020204" pitchFamily="34" charset="0"/>
                <a:cs typeface="Arial" panose="020B0604020202020204" pitchFamily="34" charset="0"/>
                <a:sym typeface="+mn-ea"/>
              </a:rPr>
              <a:t>去中心化借贷是专门从事加密货币和数字资产进行借贷活动的平台，利用智能合约实现借贷双方的匹配、资产的锁定、利息的计算和还款的执行等功能</a:t>
            </a:r>
            <a:r>
              <a:rPr lang="zh-CN" altLang="en-US">
                <a:solidFill>
                  <a:schemeClr val="tx2">
                    <a:lumMod val="75000"/>
                  </a:schemeClr>
                </a:solidFill>
                <a:latin typeface="Arial" panose="020B0604020202020204" pitchFamily="34" charset="0"/>
                <a:cs typeface="Arial" panose="020B0604020202020204" pitchFamily="34" charset="0"/>
                <a:sym typeface="+mn-ea"/>
              </a:rPr>
              <a:t>。</a:t>
            </a:r>
            <a:endParaRPr lang="zh-CN" altLang="en-US">
              <a:solidFill>
                <a:schemeClr val="tx2">
                  <a:lumMod val="75000"/>
                </a:schemeClr>
              </a:solidFill>
              <a:latin typeface="Arial" panose="020B0604020202020204" pitchFamily="34" charset="0"/>
              <a:cs typeface="Arial" panose="020B0604020202020204" pitchFamily="34" charset="0"/>
            </a:endParaRPr>
          </a:p>
          <a:p>
            <a:pPr marL="285750" indent="-285750" algn="l">
              <a:lnSpc>
                <a:spcPct val="150000"/>
              </a:lnSpc>
              <a:buClr>
                <a:srgbClr val="FF9001"/>
              </a:buClr>
              <a:buFont typeface="Wingdings" panose="05000000000000000000" pitchFamily="2" charset="2"/>
              <a:buChar char="ü"/>
              <a:defRPr sz="1400"/>
            </a:pPr>
            <a:r>
              <a:rPr lang="zh-CN" altLang="en-US" sz="1400">
                <a:solidFill>
                  <a:schemeClr val="tx2">
                    <a:lumMod val="75000"/>
                  </a:schemeClr>
                </a:solidFill>
                <a:latin typeface="Arial" panose="020B0604020202020204" pitchFamily="34" charset="0"/>
                <a:cs typeface="Arial" panose="020B0604020202020204" pitchFamily="34" charset="0"/>
                <a:sym typeface="+mn-ea"/>
              </a:rPr>
              <a:t>无需依赖任何第三方机构或个人，提供更高的效率、访问性和透明度，满足用户套利、杠杆、做市等金融活动的资金需求</a:t>
            </a:r>
            <a:r>
              <a:rPr lang="zh-CN" altLang="en-US">
                <a:solidFill>
                  <a:schemeClr val="tx2">
                    <a:lumMod val="75000"/>
                  </a:schemeClr>
                </a:solidFill>
                <a:latin typeface="Arial" panose="020B0604020202020204" pitchFamily="34" charset="0"/>
                <a:cs typeface="Arial" panose="020B0604020202020204" pitchFamily="34" charset="0"/>
                <a:sym typeface="+mn-ea"/>
              </a:rPr>
              <a:t>。</a:t>
            </a:r>
            <a:endParaRPr lang="zh-CN" altLang="en-US" sz="1400">
              <a:solidFill>
                <a:schemeClr val="tx2">
                  <a:lumMod val="75000"/>
                </a:schemeClr>
              </a:solidFill>
              <a:latin typeface="Arial" panose="020B0604020202020204" pitchFamily="34" charset="0"/>
              <a:cs typeface="Arial" panose="020B0604020202020204" pitchFamily="34" charset="0"/>
            </a:endParaRPr>
          </a:p>
          <a:p>
            <a:pPr marL="285750" indent="-285750" algn="l">
              <a:lnSpc>
                <a:spcPct val="150000"/>
              </a:lnSpc>
              <a:buClr>
                <a:srgbClr val="FF9001"/>
              </a:buClr>
              <a:buFont typeface="Wingdings" panose="05000000000000000000" pitchFamily="2" charset="2"/>
              <a:buChar char="ü"/>
              <a:defRPr sz="1400"/>
            </a:pPr>
            <a:r>
              <a:rPr lang="zh-CN" altLang="en-US" sz="1400">
                <a:solidFill>
                  <a:schemeClr val="tx2">
                    <a:lumMod val="75000"/>
                  </a:schemeClr>
                </a:solidFill>
                <a:latin typeface="Arial" panose="020B0604020202020204" pitchFamily="34" charset="0"/>
                <a:cs typeface="Arial" panose="020B0604020202020204" pitchFamily="34" charset="0"/>
                <a:sym typeface="+mn-ea"/>
              </a:rPr>
              <a:t>目前链上</a:t>
            </a:r>
            <a:r>
              <a:rPr lang="zh-CN" altLang="en-US">
                <a:solidFill>
                  <a:schemeClr val="tx2">
                    <a:lumMod val="75000"/>
                  </a:schemeClr>
                </a:solidFill>
                <a:latin typeface="Arial" panose="020B0604020202020204" pitchFamily="34" charset="0"/>
                <a:cs typeface="Arial" panose="020B0604020202020204" pitchFamily="34" charset="0"/>
                <a:sym typeface="+mn-ea"/>
              </a:rPr>
              <a:t>借贷协议</a:t>
            </a:r>
            <a:r>
              <a:rPr lang="zh-CN" altLang="en-US" sz="1400">
                <a:solidFill>
                  <a:schemeClr val="tx2">
                    <a:lumMod val="75000"/>
                  </a:schemeClr>
                </a:solidFill>
                <a:latin typeface="Arial" panose="020B0604020202020204" pitchFamily="34" charset="0"/>
                <a:cs typeface="Arial" panose="020B0604020202020204" pitchFamily="34" charset="0"/>
                <a:sym typeface="+mn-ea"/>
              </a:rPr>
              <a:t>总锁定价值（TVL）超 300亿美元</a:t>
            </a:r>
            <a:r>
              <a:rPr lang="zh-CN" altLang="en-US">
                <a:solidFill>
                  <a:schemeClr val="tx2">
                    <a:lumMod val="75000"/>
                  </a:schemeClr>
                </a:solidFill>
                <a:latin typeface="Arial" panose="020B0604020202020204" pitchFamily="34" charset="0"/>
                <a:cs typeface="Arial" panose="020B0604020202020204" pitchFamily="34" charset="0"/>
                <a:sym typeface="+mn-ea"/>
              </a:rPr>
              <a:t>。</a:t>
            </a:r>
            <a:endParaRPr lang="zh-CN" altLang="en-US" sz="1400">
              <a:solidFill>
                <a:schemeClr val="tx2">
                  <a:lumMod val="75000"/>
                </a:schemeClr>
              </a:solidFill>
              <a:latin typeface="Arial" panose="020B0604020202020204" pitchFamily="34" charset="0"/>
              <a:cs typeface="Arial" panose="020B0604020202020204" pitchFamily="34" charset="0"/>
              <a:sym typeface="+mn-ea"/>
            </a:endParaRPr>
          </a:p>
        </p:txBody>
      </p:sp>
      <p:sp>
        <p:nvSpPr>
          <p:cNvPr id="8" name="文本占位符 7"/>
          <p:cNvSpPr>
            <a:spLocks noGrp="1"/>
          </p:cNvSpPr>
          <p:nvPr>
            <p:ph type="body" sz="quarter" idx="10"/>
          </p:nvPr>
        </p:nvSpPr>
        <p:spPr>
          <a:xfrm>
            <a:off x="930275" y="176530"/>
            <a:ext cx="4351655" cy="375920"/>
          </a:xfrm>
        </p:spPr>
        <p:txBody>
          <a:bodyPr>
            <a:noAutofit/>
          </a:bodyPr>
          <a:lstStyle/>
          <a:p>
            <a:r>
              <a:rPr lang="zh-CN" altLang="en-US" sz="2800" dirty="0">
                <a:latin typeface="+mj-ea"/>
                <a:ea typeface="+mj-ea"/>
                <a:cs typeface="+mn-ea"/>
                <a:sym typeface="+mn-lt"/>
              </a:rPr>
              <a:t>去中心化交易所和借贷</a:t>
            </a:r>
            <a:endParaRPr lang="zh-CN" altLang="en-US" sz="2800" dirty="0">
              <a:latin typeface="+mj-ea"/>
              <a:ea typeface="+mj-ea"/>
              <a:cs typeface="+mn-ea"/>
              <a:sym typeface="+mn-lt"/>
            </a:endParaRPr>
          </a:p>
        </p:txBody>
      </p:sp>
      <p:sp>
        <p:nvSpPr>
          <p:cNvPr id="9" name="矩形 8"/>
          <p:cNvSpPr/>
          <p:nvPr/>
        </p:nvSpPr>
        <p:spPr>
          <a:xfrm rot="16200000">
            <a:off x="6531369" y="-834939"/>
            <a:ext cx="374080" cy="1008418"/>
          </a:xfrm>
          <a:prstGeom prst="rect">
            <a:avLst/>
          </a:prstGeom>
          <a:gradFill flip="none" rotWithShape="1">
            <a:gsLst>
              <a:gs pos="0">
                <a:srgbClr val="FFC000"/>
              </a:gs>
              <a:gs pos="100000">
                <a:srgbClr val="FF9001"/>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20204" pitchFamily="34" charset="0"/>
              <a:cs typeface="Arial" panose="020B0604020202020204" pitchFamily="34" charset="0"/>
            </a:endParaRPr>
          </a:p>
        </p:txBody>
      </p:sp>
      <p:sp>
        <p:nvSpPr>
          <p:cNvPr id="10" name="矩形 9"/>
          <p:cNvSpPr/>
          <p:nvPr/>
        </p:nvSpPr>
        <p:spPr>
          <a:xfrm rot="16200000">
            <a:off x="2287592" y="-836153"/>
            <a:ext cx="374080" cy="1008418"/>
          </a:xfrm>
          <a:prstGeom prst="rect">
            <a:avLst/>
          </a:prstGeom>
          <a:gradFill flip="none" rotWithShape="1">
            <a:gsLst>
              <a:gs pos="0">
                <a:srgbClr val="769BFF"/>
              </a:gs>
              <a:gs pos="100000">
                <a:srgbClr val="2864FF"/>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20204" pitchFamily="34" charset="0"/>
              <a:cs typeface="Arial" panose="020B0604020202020204" pitchFamily="34" charset="0"/>
            </a:endParaRPr>
          </a:p>
        </p:txBody>
      </p:sp>
      <p:sp>
        <p:nvSpPr>
          <p:cNvPr id="11" name="矩形 10"/>
          <p:cNvSpPr/>
          <p:nvPr/>
        </p:nvSpPr>
        <p:spPr>
          <a:xfrm rot="16200000">
            <a:off x="4406966" y="-836153"/>
            <a:ext cx="374080" cy="1008418"/>
          </a:xfrm>
          <a:prstGeom prst="rect">
            <a:avLst/>
          </a:prstGeom>
          <a:solidFill>
            <a:srgbClr val="769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20204" pitchFamily="34" charset="0"/>
              <a:cs typeface="Arial" panose="020B0604020202020204" pitchFamily="34" charset="0"/>
            </a:endParaRPr>
          </a:p>
        </p:txBody>
      </p:sp>
      <p:sp>
        <p:nvSpPr>
          <p:cNvPr id="12" name="矩形 11"/>
          <p:cNvSpPr/>
          <p:nvPr/>
        </p:nvSpPr>
        <p:spPr>
          <a:xfrm rot="16200000">
            <a:off x="3347279" y="-836153"/>
            <a:ext cx="374080" cy="1008418"/>
          </a:xfrm>
          <a:prstGeom prst="rect">
            <a:avLst/>
          </a:prstGeom>
          <a:solidFill>
            <a:srgbClr val="286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20204" pitchFamily="34" charset="0"/>
              <a:cs typeface="Arial" panose="020B0604020202020204" pitchFamily="34" charset="0"/>
            </a:endParaRPr>
          </a:p>
        </p:txBody>
      </p:sp>
      <p:sp>
        <p:nvSpPr>
          <p:cNvPr id="13" name="矩形 12"/>
          <p:cNvSpPr/>
          <p:nvPr/>
        </p:nvSpPr>
        <p:spPr>
          <a:xfrm rot="16200000">
            <a:off x="7591056" y="-834939"/>
            <a:ext cx="374080" cy="1008418"/>
          </a:xfrm>
          <a:prstGeom prst="rect">
            <a:avLst/>
          </a:prstGeom>
          <a:solidFill>
            <a:srgbClr val="FF9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20204" pitchFamily="34" charset="0"/>
              <a:cs typeface="Arial" panose="020B0604020202020204" pitchFamily="34" charset="0"/>
            </a:endParaRPr>
          </a:p>
        </p:txBody>
      </p:sp>
      <p:sp>
        <p:nvSpPr>
          <p:cNvPr id="14" name="矩形 13"/>
          <p:cNvSpPr/>
          <p:nvPr/>
        </p:nvSpPr>
        <p:spPr>
          <a:xfrm rot="16200000">
            <a:off x="8650743" y="-834939"/>
            <a:ext cx="374080" cy="100841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20204" pitchFamily="34" charset="0"/>
              <a:cs typeface="Arial" panose="020B0604020202020204" pitchFamily="34" charset="0"/>
            </a:endParaRPr>
          </a:p>
        </p:txBody>
      </p:sp>
      <p:sp>
        <p:nvSpPr>
          <p:cNvPr id="15" name="矩形 14"/>
          <p:cNvSpPr/>
          <p:nvPr/>
        </p:nvSpPr>
        <p:spPr>
          <a:xfrm rot="16200000">
            <a:off x="5466653" y="-836153"/>
            <a:ext cx="374080" cy="1008418"/>
          </a:xfrm>
          <a:prstGeom prst="rect">
            <a:avLst/>
          </a:prstGeom>
          <a:solidFill>
            <a:srgbClr val="0663FF">
              <a:alpha val="50000"/>
            </a:srgbClr>
          </a:solidFill>
          <a:ln>
            <a:noFill/>
          </a:ln>
          <a:effectLst>
            <a:outerShdw blurRad="469900" sx="102000" sy="102000" algn="ctr" rotWithShape="0">
              <a:srgbClr val="0600F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charset="-122"/>
              <a:ea typeface="微软雅黑" panose="020B0503020204020204" charset="-122"/>
            </a:endParaRPr>
          </a:p>
        </p:txBody>
      </p:sp>
      <p:sp>
        <p:nvSpPr>
          <p:cNvPr id="16" name="矩形 15"/>
          <p:cNvSpPr/>
          <p:nvPr/>
        </p:nvSpPr>
        <p:spPr>
          <a:xfrm rot="16200000">
            <a:off x="9710430" y="-834939"/>
            <a:ext cx="374080" cy="1008418"/>
          </a:xfrm>
          <a:prstGeom prst="rect">
            <a:avLst/>
          </a:prstGeom>
          <a:solidFill>
            <a:srgbClr val="FF9001">
              <a:alpha val="50000"/>
            </a:srgbClr>
          </a:solidFill>
          <a:ln>
            <a:noFill/>
          </a:ln>
          <a:effectLst>
            <a:outerShdw blurRad="469900" sx="102000" sy="102000" algn="ctr" rotWithShape="0">
              <a:srgbClr val="FF9001">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charset="-122"/>
              <a:ea typeface="微软雅黑" panose="020B0503020204020204" charset="-122"/>
            </a:endParaRPr>
          </a:p>
        </p:txBody>
      </p:sp>
      <p:sp>
        <p:nvSpPr>
          <p:cNvPr id="7" name="文本框 6"/>
          <p:cNvSpPr txBox="1"/>
          <p:nvPr/>
        </p:nvSpPr>
        <p:spPr>
          <a:xfrm>
            <a:off x="908050" y="828040"/>
            <a:ext cx="5187950" cy="24130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lstStyle/>
          <a:p>
            <a:pPr marL="285750" indent="-285750" algn="l">
              <a:lnSpc>
                <a:spcPct val="150000"/>
              </a:lnSpc>
              <a:buClr>
                <a:srgbClr val="FF9001"/>
              </a:buClr>
              <a:buFont typeface="Wingdings" panose="05000000000000000000" pitchFamily="2" charset="2"/>
              <a:buChar char="ü"/>
              <a:defRPr sz="1400"/>
            </a:pPr>
            <a:r>
              <a:rPr lang="zh-CN" altLang="en-US" sz="1400">
                <a:solidFill>
                  <a:schemeClr val="tx2">
                    <a:lumMod val="75000"/>
                  </a:schemeClr>
                </a:solidFill>
                <a:latin typeface="Arial" panose="020B0604020202020204" pitchFamily="34" charset="0"/>
                <a:cs typeface="Arial" panose="020B0604020202020204" pitchFamily="34" charset="0"/>
              </a:rPr>
              <a:t>去中心化交易所（DEX）是一种专门从事加密货币和数字资产点对点交易的交易所</a:t>
            </a:r>
            <a:r>
              <a:rPr lang="zh-CN" altLang="en-US">
                <a:solidFill>
                  <a:schemeClr val="tx2">
                    <a:lumMod val="75000"/>
                  </a:schemeClr>
                </a:solidFill>
                <a:latin typeface="Arial" panose="020B0604020202020204" pitchFamily="34" charset="0"/>
                <a:cs typeface="Arial" panose="020B0604020202020204" pitchFamily="34" charset="0"/>
                <a:sym typeface="+mn-ea"/>
              </a:rPr>
              <a:t>，</a:t>
            </a:r>
            <a:r>
              <a:rPr lang="zh-CN" altLang="en-US" sz="1400">
                <a:solidFill>
                  <a:schemeClr val="tx2">
                    <a:lumMod val="75000"/>
                  </a:schemeClr>
                </a:solidFill>
                <a:latin typeface="Arial" panose="020B0604020202020204" pitchFamily="34" charset="0"/>
                <a:cs typeface="Arial" panose="020B0604020202020204" pitchFamily="34" charset="0"/>
                <a:sym typeface="+mn-ea"/>
              </a:rPr>
              <a:t>基于区块链技术和智能合约保证交易的安全和透明</a:t>
            </a:r>
            <a:r>
              <a:rPr lang="zh-CN" altLang="en-US">
                <a:solidFill>
                  <a:schemeClr val="tx2">
                    <a:lumMod val="75000"/>
                  </a:schemeClr>
                </a:solidFill>
                <a:latin typeface="Arial" panose="020B0604020202020204" pitchFamily="34" charset="0"/>
                <a:cs typeface="Arial" panose="020B0604020202020204" pitchFamily="34" charset="0"/>
                <a:sym typeface="+mn-ea"/>
              </a:rPr>
              <a:t>，</a:t>
            </a:r>
            <a:r>
              <a:rPr lang="zh-CN" altLang="en-US" sz="1400">
                <a:solidFill>
                  <a:schemeClr val="tx2">
                    <a:lumMod val="75000"/>
                  </a:schemeClr>
                </a:solidFill>
                <a:latin typeface="Arial" panose="020B0604020202020204" pitchFamily="34" charset="0"/>
                <a:cs typeface="Arial" panose="020B0604020202020204" pitchFamily="34" charset="0"/>
              </a:rPr>
              <a:t>不需要信任第三方或中介来促进加密资产的交易</a:t>
            </a:r>
            <a:r>
              <a:rPr lang="zh-CN" altLang="en-US" sz="1400">
                <a:solidFill>
                  <a:schemeClr val="tx2">
                    <a:lumMod val="75000"/>
                  </a:schemeClr>
                </a:solidFill>
                <a:latin typeface="Arial" panose="020B0604020202020204" pitchFamily="34" charset="0"/>
                <a:cs typeface="Arial" panose="020B0604020202020204" pitchFamily="34" charset="0"/>
                <a:sym typeface="+mn-ea"/>
              </a:rPr>
              <a:t>，</a:t>
            </a:r>
            <a:r>
              <a:rPr lang="zh-CN" altLang="en-US" sz="1400">
                <a:solidFill>
                  <a:schemeClr val="tx2">
                    <a:lumMod val="75000"/>
                  </a:schemeClr>
                </a:solidFill>
                <a:latin typeface="Arial" panose="020B0604020202020204" pitchFamily="34" charset="0"/>
                <a:cs typeface="Arial" panose="020B0604020202020204" pitchFamily="34" charset="0"/>
              </a:rPr>
              <a:t>可以替代银行、券商、支付系统等传统交易中介</a:t>
            </a:r>
            <a:r>
              <a:rPr lang="zh-CN" altLang="en-US">
                <a:solidFill>
                  <a:schemeClr val="tx2">
                    <a:lumMod val="75000"/>
                  </a:schemeClr>
                </a:solidFill>
                <a:latin typeface="Arial" panose="020B0604020202020204" pitchFamily="34" charset="0"/>
                <a:cs typeface="Arial" panose="020B0604020202020204" pitchFamily="34" charset="0"/>
                <a:sym typeface="+mn-ea"/>
              </a:rPr>
              <a:t>。</a:t>
            </a:r>
            <a:endParaRPr lang="zh-CN" altLang="en-US" sz="1400">
              <a:solidFill>
                <a:schemeClr val="tx2">
                  <a:lumMod val="75000"/>
                </a:schemeClr>
              </a:solidFill>
              <a:latin typeface="Arial" panose="020B0604020202020204" pitchFamily="34" charset="0"/>
              <a:cs typeface="Arial" panose="020B0604020202020204" pitchFamily="34" charset="0"/>
            </a:endParaRPr>
          </a:p>
          <a:p>
            <a:pPr marL="285750" indent="-285750" algn="l">
              <a:lnSpc>
                <a:spcPct val="150000"/>
              </a:lnSpc>
              <a:buClr>
                <a:srgbClr val="FF9001"/>
              </a:buClr>
              <a:buFont typeface="Wingdings" panose="05000000000000000000" pitchFamily="2" charset="2"/>
              <a:buChar char="ü"/>
              <a:defRPr sz="1400"/>
            </a:pPr>
            <a:r>
              <a:rPr lang="zh-CN" altLang="en-US" sz="1400">
                <a:solidFill>
                  <a:schemeClr val="tx2">
                    <a:lumMod val="75000"/>
                  </a:schemeClr>
                </a:solidFill>
                <a:latin typeface="Arial" panose="020B0604020202020204" pitchFamily="34" charset="0"/>
                <a:cs typeface="Arial" panose="020B0604020202020204" pitchFamily="34" charset="0"/>
              </a:rPr>
              <a:t>在过去的8月</a:t>
            </a:r>
            <a:r>
              <a:rPr lang="zh-CN" altLang="en-US" sz="1400">
                <a:solidFill>
                  <a:schemeClr val="tx2">
                    <a:lumMod val="75000"/>
                  </a:schemeClr>
                </a:solidFill>
                <a:latin typeface="Arial" panose="020B0604020202020204" pitchFamily="34" charset="0"/>
                <a:cs typeface="Arial" panose="020B0604020202020204" pitchFamily="34" charset="0"/>
                <a:sym typeface="+mn-ea"/>
              </a:rPr>
              <a:t>，</a:t>
            </a:r>
            <a:r>
              <a:rPr lang="zh-CN" altLang="en-US" sz="1400">
                <a:solidFill>
                  <a:schemeClr val="tx2">
                    <a:lumMod val="75000"/>
                  </a:schemeClr>
                </a:solidFill>
                <a:latin typeface="Arial" panose="020B0604020202020204" pitchFamily="34" charset="0"/>
                <a:cs typeface="Arial" panose="020B0604020202020204" pitchFamily="34" charset="0"/>
              </a:rPr>
              <a:t>DEX交易量达1800亿美元</a:t>
            </a:r>
            <a:r>
              <a:rPr lang="zh-CN" altLang="en-US">
                <a:solidFill>
                  <a:schemeClr val="tx2">
                    <a:lumMod val="75000"/>
                  </a:schemeClr>
                </a:solidFill>
                <a:latin typeface="Arial" panose="020B0604020202020204" pitchFamily="34" charset="0"/>
                <a:cs typeface="Arial" panose="020B0604020202020204" pitchFamily="34" charset="0"/>
                <a:sym typeface="+mn-ea"/>
              </a:rPr>
              <a:t>，</a:t>
            </a:r>
            <a:r>
              <a:rPr lang="zh-CN" altLang="en-US" sz="1400">
                <a:solidFill>
                  <a:schemeClr val="tx2">
                    <a:lumMod val="75000"/>
                  </a:schemeClr>
                </a:solidFill>
                <a:latin typeface="Arial" panose="020B0604020202020204" pitchFamily="34" charset="0"/>
                <a:cs typeface="Arial" panose="020B0604020202020204" pitchFamily="34" charset="0"/>
              </a:rPr>
              <a:t>其中以太坊上为 496.67 亿美元 , Solana 为 416.4亿美元</a:t>
            </a:r>
            <a:r>
              <a:rPr lang="zh-CN" altLang="en-US">
                <a:solidFill>
                  <a:schemeClr val="tx2">
                    <a:lumMod val="75000"/>
                  </a:schemeClr>
                </a:solidFill>
                <a:latin typeface="Arial" panose="020B0604020202020204" pitchFamily="34" charset="0"/>
                <a:cs typeface="Arial" panose="020B0604020202020204" pitchFamily="34" charset="0"/>
                <a:sym typeface="+mn-ea"/>
              </a:rPr>
              <a:t>。</a:t>
            </a:r>
            <a:endParaRPr lang="zh-CN" altLang="en-US" sz="1400">
              <a:solidFill>
                <a:schemeClr val="tx2">
                  <a:lumMod val="75000"/>
                </a:schemeClr>
              </a:solidFill>
              <a:latin typeface="Arial" panose="020B0604020202020204" pitchFamily="34" charset="0"/>
              <a:cs typeface="Arial" panose="020B0604020202020204" pitchFamily="34" charset="0"/>
            </a:endParaRPr>
          </a:p>
          <a:p>
            <a:pPr marL="285750" indent="-285750" algn="l">
              <a:lnSpc>
                <a:spcPct val="150000"/>
              </a:lnSpc>
              <a:buClr>
                <a:srgbClr val="FF9001"/>
              </a:buClr>
              <a:buFont typeface="Wingdings" panose="05000000000000000000" pitchFamily="2" charset="2"/>
              <a:buChar char="ü"/>
              <a:defRPr sz="1400"/>
            </a:pPr>
            <a:endParaRPr lang="zh-CN" altLang="en-US" sz="1800">
              <a:solidFill>
                <a:schemeClr val="tx2">
                  <a:lumMod val="75000"/>
                </a:schemeClr>
              </a:solidFill>
              <a:latin typeface="Arial" panose="020B0604020202020204" pitchFamily="34" charset="0"/>
              <a:cs typeface="Arial" panose="020B0604020202020204" pitchFamily="34" charset="0"/>
            </a:endParaRPr>
          </a:p>
          <a:p>
            <a:pPr marL="285750" indent="-285750" algn="l">
              <a:lnSpc>
                <a:spcPct val="150000"/>
              </a:lnSpc>
              <a:buClr>
                <a:srgbClr val="FF9001"/>
              </a:buClr>
              <a:buFont typeface="Wingdings" panose="05000000000000000000" pitchFamily="2" charset="2"/>
              <a:buChar char="ü"/>
              <a:defRPr sz="1400"/>
            </a:pPr>
            <a:endParaRPr lang="zh-CN" altLang="en-US" sz="1800">
              <a:solidFill>
                <a:schemeClr val="tx2">
                  <a:lumMod val="75000"/>
                </a:schemeClr>
              </a:solidFill>
              <a:latin typeface="Arial" panose="020B0604020202020204" pitchFamily="34" charset="0"/>
              <a:cs typeface="Arial" panose="020B0604020202020204" pitchFamily="34" charset="0"/>
            </a:endParaRPr>
          </a:p>
          <a:p>
            <a:pPr marL="285750" indent="-285750" algn="l">
              <a:lnSpc>
                <a:spcPct val="150000"/>
              </a:lnSpc>
              <a:buClr>
                <a:srgbClr val="FF9001"/>
              </a:buClr>
              <a:buFont typeface="Wingdings" panose="05000000000000000000" pitchFamily="2" charset="2"/>
              <a:buChar char="ü"/>
              <a:defRPr sz="1400"/>
            </a:pPr>
            <a:endParaRPr lang="zh-CN" altLang="en-US" sz="1800">
              <a:solidFill>
                <a:schemeClr val="tx2">
                  <a:lumMod val="75000"/>
                </a:schemeClr>
              </a:solidFill>
              <a:latin typeface="Arial" panose="020B0604020202020204" pitchFamily="34" charset="0"/>
              <a:cs typeface="Arial" panose="020B0604020202020204" pitchFamily="34" charset="0"/>
            </a:endParaRPr>
          </a:p>
          <a:p>
            <a:pPr marL="285750" indent="-285750" algn="l">
              <a:lnSpc>
                <a:spcPct val="150000"/>
              </a:lnSpc>
              <a:buClr>
                <a:srgbClr val="FF9001"/>
              </a:buClr>
              <a:buFont typeface="Wingdings" panose="05000000000000000000" pitchFamily="2" charset="2"/>
              <a:buChar char="ü"/>
              <a:defRPr sz="1400"/>
            </a:pPr>
            <a:endParaRPr lang="zh-CN" altLang="en-US" sz="1400">
              <a:solidFill>
                <a:schemeClr val="tx2">
                  <a:lumMod val="75000"/>
                </a:schemeClr>
              </a:solidFill>
              <a:latin typeface="Arial" panose="020B0604020202020204" pitchFamily="34" charset="0"/>
              <a:cs typeface="Arial" panose="020B0604020202020204" pitchFamily="34" charset="0"/>
            </a:endParaRPr>
          </a:p>
        </p:txBody>
      </p:sp>
      <p:grpSp>
        <p:nvGrpSpPr>
          <p:cNvPr id="66" name="组合 65"/>
          <p:cNvGrpSpPr/>
          <p:nvPr/>
        </p:nvGrpSpPr>
        <p:grpSpPr>
          <a:xfrm>
            <a:off x="1064895" y="4990465"/>
            <a:ext cx="4939665" cy="1383665"/>
            <a:chOff x="1291" y="1634"/>
            <a:chExt cx="3091" cy="809"/>
          </a:xfrm>
        </p:grpSpPr>
        <p:sp>
          <p:nvSpPr>
            <p:cNvPr id="67" name="矩形: 圆角 1"/>
            <p:cNvSpPr/>
            <p:nvPr/>
          </p:nvSpPr>
          <p:spPr>
            <a:xfrm>
              <a:off x="1291" y="1634"/>
              <a:ext cx="3091" cy="809"/>
            </a:xfrm>
            <a:prstGeom prst="roundRect">
              <a:avLst>
                <a:gd name="adj" fmla="val 1131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solidFill>
                  <a:schemeClr val="bg1"/>
                </a:solidFill>
                <a:latin typeface="Arial" panose="020B0604020202020204" pitchFamily="34" charset="0"/>
                <a:ea typeface="Arial" panose="020B0604020202020204" pitchFamily="34" charset="0"/>
                <a:sym typeface="Arial" panose="020B0604020202020204" pitchFamily="34" charset="0"/>
              </a:endParaRPr>
            </a:p>
          </p:txBody>
        </p:sp>
        <p:sp>
          <p:nvSpPr>
            <p:cNvPr id="68" name="任意多边形: 形状 46"/>
            <p:cNvSpPr/>
            <p:nvPr/>
          </p:nvSpPr>
          <p:spPr>
            <a:xfrm>
              <a:off x="3727" y="1635"/>
              <a:ext cx="655" cy="244"/>
            </a:xfrm>
            <a:custGeom>
              <a:avLst/>
              <a:gdLst>
                <a:gd name="connsiteX0" fmla="*/ 0 w 898574"/>
                <a:gd name="connsiteY0" fmla="*/ 0 h 641023"/>
                <a:gd name="connsiteX1" fmla="*/ 726663 w 898574"/>
                <a:gd name="connsiteY1" fmla="*/ 0 h 641023"/>
                <a:gd name="connsiteX2" fmla="*/ 898574 w 898574"/>
                <a:gd name="connsiteY2" fmla="*/ 171911 h 641023"/>
                <a:gd name="connsiteX3" fmla="*/ 898574 w 898574"/>
                <a:gd name="connsiteY3" fmla="*/ 641023 h 641023"/>
                <a:gd name="connsiteX4" fmla="*/ 828427 w 898574"/>
                <a:gd name="connsiteY4" fmla="*/ 637481 h 641023"/>
                <a:gd name="connsiteX5" fmla="*/ 12567 w 898574"/>
                <a:gd name="connsiteY5" fmla="*/ 34337 h 641023"/>
                <a:gd name="connsiteX6" fmla="*/ 0 w 898574"/>
                <a:gd name="connsiteY6" fmla="*/ 0 h 64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8574" h="641023">
                  <a:moveTo>
                    <a:pt x="0" y="0"/>
                  </a:moveTo>
                  <a:lnTo>
                    <a:pt x="726663" y="0"/>
                  </a:lnTo>
                  <a:cubicBezTo>
                    <a:pt x="821607" y="0"/>
                    <a:pt x="898574" y="76967"/>
                    <a:pt x="898574" y="171911"/>
                  </a:cubicBezTo>
                  <a:lnTo>
                    <a:pt x="898574" y="641023"/>
                  </a:lnTo>
                  <a:lnTo>
                    <a:pt x="828427" y="637481"/>
                  </a:lnTo>
                  <a:cubicBezTo>
                    <a:pt x="460135" y="600079"/>
                    <a:pt x="151163" y="362012"/>
                    <a:pt x="12567" y="34337"/>
                  </a:cubicBezTo>
                  <a:lnTo>
                    <a:pt x="0" y="0"/>
                  </a:lnTo>
                  <a:close/>
                </a:path>
              </a:pathLst>
            </a:custGeom>
            <a:gradFill>
              <a:gsLst>
                <a:gs pos="14000">
                  <a:schemeClr val="bg1">
                    <a:lumMod val="95000"/>
                    <a:alpha val="0"/>
                  </a:schemeClr>
                </a:gs>
                <a:gs pos="59000">
                  <a:schemeClr val="bg1">
                    <a:lumMod val="85000"/>
                    <a:alpha val="43000"/>
                  </a:schemeClr>
                </a:gs>
                <a:gs pos="82000">
                  <a:schemeClr val="bg1">
                    <a:lumMod val="85000"/>
                    <a:alpha val="72000"/>
                  </a:schemeClr>
                </a:gs>
                <a:gs pos="100000">
                  <a:schemeClr val="bg1">
                    <a:lumMod val="8500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Arial" panose="020B0604020202020204" pitchFamily="34" charset="0"/>
                <a:ea typeface="Arial" panose="020B0604020202020204" pitchFamily="34" charset="0"/>
                <a:sym typeface="Arial" panose="020B0604020202020204" pitchFamily="34" charset="0"/>
              </a:endParaRPr>
            </a:p>
          </p:txBody>
        </p:sp>
      </p:grpSp>
      <p:sp>
        <p:nvSpPr>
          <p:cNvPr id="98" name="文本框 97"/>
          <p:cNvSpPr txBox="1"/>
          <p:nvPr/>
        </p:nvSpPr>
        <p:spPr>
          <a:xfrm>
            <a:off x="1188720" y="5038725"/>
            <a:ext cx="4664075" cy="1200150"/>
          </a:xfrm>
          <a:prstGeom prst="rect">
            <a:avLst/>
          </a:prstGeom>
          <a:noFill/>
          <a:ln w="1905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t" anchorCtr="0">
            <a:noAutofit/>
          </a:bodyPr>
          <a:p>
            <a:pPr indent="0" algn="l">
              <a:lnSpc>
                <a:spcPct val="150000"/>
              </a:lnSpc>
              <a:buClr>
                <a:srgbClr val="FF9001"/>
              </a:buClr>
              <a:buFont typeface="Wingdings" panose="05000000000000000000" pitchFamily="2" charset="2"/>
              <a:buNone/>
              <a:defRPr sz="1400"/>
            </a:pPr>
            <a:r>
              <a:rPr lang="en-US" altLang="zh-CN" sz="1200">
                <a:solidFill>
                  <a:schemeClr val="tx2">
                    <a:lumMod val="75000"/>
                  </a:schemeClr>
                </a:solidFill>
                <a:latin typeface="Arial" panose="020B0604020202020204" pitchFamily="34" charset="0"/>
                <a:cs typeface="Arial" panose="020B0604020202020204" pitchFamily="34" charset="0"/>
                <a:sym typeface="+mn-ea"/>
              </a:rPr>
              <a:t>         </a:t>
            </a:r>
            <a:r>
              <a:rPr lang="zh-CN" altLang="en-US" sz="1200">
                <a:solidFill>
                  <a:schemeClr val="tx2">
                    <a:lumMod val="75000"/>
                  </a:schemeClr>
                </a:solidFill>
                <a:latin typeface="Arial" panose="020B0604020202020204" pitchFamily="34" charset="0"/>
                <a:cs typeface="Arial" panose="020B0604020202020204" pitchFamily="34" charset="0"/>
                <a:sym typeface="+mn-ea"/>
              </a:rPr>
              <a:t>Uniswap</a:t>
            </a:r>
            <a:endParaRPr lang="zh-CN" altLang="en-US" sz="1200">
              <a:solidFill>
                <a:schemeClr val="tx2">
                  <a:lumMod val="75000"/>
                </a:schemeClr>
              </a:solidFill>
              <a:latin typeface="Arial" panose="020B0604020202020204" pitchFamily="34" charset="0"/>
              <a:cs typeface="Arial" panose="020B0604020202020204" pitchFamily="34" charset="0"/>
              <a:sym typeface="+mn-ea"/>
            </a:endParaRPr>
          </a:p>
          <a:p>
            <a:pPr indent="0" algn="l">
              <a:lnSpc>
                <a:spcPct val="150000"/>
              </a:lnSpc>
              <a:buClr>
                <a:srgbClr val="FF9001"/>
              </a:buClr>
              <a:buFont typeface="Wingdings" panose="05000000000000000000" pitchFamily="2" charset="2"/>
              <a:buNone/>
              <a:defRPr sz="1400"/>
            </a:pPr>
            <a:r>
              <a:rPr lang="zh-CN" altLang="en-US" sz="1200">
                <a:solidFill>
                  <a:schemeClr val="tx2">
                    <a:lumMod val="75000"/>
                  </a:schemeClr>
                </a:solidFill>
                <a:latin typeface="Arial" panose="020B0604020202020204" pitchFamily="34" charset="0"/>
                <a:cs typeface="Arial" panose="020B0604020202020204" pitchFamily="34" charset="0"/>
                <a:sym typeface="+mn-ea"/>
              </a:rPr>
              <a:t>基于</a:t>
            </a:r>
            <a:r>
              <a:rPr lang="zh-CN" altLang="en-US" sz="1200" b="1">
                <a:solidFill>
                  <a:schemeClr val="tx2">
                    <a:lumMod val="75000"/>
                  </a:schemeClr>
                </a:solidFill>
                <a:latin typeface="Arial" panose="020B0604020202020204" pitchFamily="34" charset="0"/>
                <a:cs typeface="Arial" panose="020B0604020202020204" pitchFamily="34" charset="0"/>
                <a:sym typeface="+mn-ea"/>
              </a:rPr>
              <a:t>AMM自动做市商</a:t>
            </a:r>
            <a:r>
              <a:rPr lang="zh-CN" altLang="en-US" sz="1200">
                <a:solidFill>
                  <a:schemeClr val="tx2">
                    <a:lumMod val="75000"/>
                  </a:schemeClr>
                </a:solidFill>
                <a:latin typeface="Arial" panose="020B0604020202020204" pitchFamily="34" charset="0"/>
                <a:cs typeface="Arial" panose="020B0604020202020204" pitchFamily="34" charset="0"/>
                <a:sym typeface="+mn-ea"/>
              </a:rPr>
              <a:t>机制的去中心化交易赛道龙头，其在2021年5月上线v3版本后带来了极大的成功，</a:t>
            </a:r>
            <a:r>
              <a:rPr lang="zh-CN" altLang="en-US" sz="1200">
                <a:solidFill>
                  <a:schemeClr val="tx2">
                    <a:lumMod val="75000"/>
                  </a:schemeClr>
                </a:solidFill>
                <a:latin typeface="Arial" panose="020B0604020202020204" pitchFamily="34" charset="0"/>
                <a:cs typeface="Arial" panose="020B0604020202020204" pitchFamily="34" charset="0"/>
                <a:sym typeface="+mn-ea"/>
              </a:rPr>
              <a:t>目前已支持14条链</a:t>
            </a:r>
            <a:r>
              <a:rPr lang="zh-CN" altLang="en-US" sz="1200">
                <a:solidFill>
                  <a:schemeClr val="tx2">
                    <a:lumMod val="75000"/>
                  </a:schemeClr>
                </a:solidFill>
                <a:latin typeface="Arial" panose="020B0604020202020204" pitchFamily="34" charset="0"/>
                <a:cs typeface="Arial" panose="020B0604020202020204" pitchFamily="34" charset="0"/>
                <a:sym typeface="+mn-ea"/>
              </a:rPr>
              <a:t>，</a:t>
            </a:r>
            <a:r>
              <a:rPr lang="zh-CN" altLang="en-US" sz="1200">
                <a:solidFill>
                  <a:schemeClr val="tx2">
                    <a:lumMod val="75000"/>
                  </a:schemeClr>
                </a:solidFill>
                <a:latin typeface="Arial" panose="020B0604020202020204" pitchFamily="34" charset="0"/>
                <a:cs typeface="Arial" panose="020B0604020202020204" pitchFamily="34" charset="0"/>
                <a:sym typeface="+mn-ea"/>
              </a:rPr>
              <a:t>总交易量已达到1.69万亿美元</a:t>
            </a:r>
            <a:r>
              <a:rPr lang="zh-CN" altLang="en-US" sz="1200">
                <a:solidFill>
                  <a:schemeClr val="tx2">
                    <a:lumMod val="75000"/>
                  </a:schemeClr>
                </a:solidFill>
                <a:latin typeface="Arial" panose="020B0604020202020204" pitchFamily="34" charset="0"/>
                <a:cs typeface="Arial" panose="020B0604020202020204" pitchFamily="34" charset="0"/>
                <a:sym typeface="+mn-ea"/>
              </a:rPr>
              <a:t>，</a:t>
            </a:r>
            <a:r>
              <a:rPr lang="zh-CN" altLang="en-US" sz="1200">
                <a:solidFill>
                  <a:schemeClr val="tx2">
                    <a:lumMod val="75000"/>
                  </a:schemeClr>
                </a:solidFill>
                <a:latin typeface="Arial" panose="020B0604020202020204" pitchFamily="34" charset="0"/>
                <a:cs typeface="Arial" panose="020B0604020202020204" pitchFamily="34" charset="0"/>
              </a:rPr>
              <a:t>市场占有率接近50%</a:t>
            </a:r>
            <a:r>
              <a:rPr lang="zh-CN" altLang="en-US" sz="1200">
                <a:solidFill>
                  <a:schemeClr val="tx2">
                    <a:lumMod val="75000"/>
                  </a:schemeClr>
                </a:solidFill>
                <a:latin typeface="Arial" panose="020B0604020202020204" pitchFamily="34" charset="0"/>
                <a:cs typeface="Arial" panose="020B0604020202020204" pitchFamily="34" charset="0"/>
                <a:sym typeface="+mn-ea"/>
              </a:rPr>
              <a:t>。</a:t>
            </a:r>
            <a:endParaRPr lang="zh-CN" altLang="en-US" sz="1200">
              <a:solidFill>
                <a:schemeClr val="tx2">
                  <a:lumMod val="75000"/>
                </a:schemeClr>
              </a:solidFill>
              <a:latin typeface="Arial" panose="020B0604020202020204" pitchFamily="34" charset="0"/>
              <a:cs typeface="Arial" panose="020B0604020202020204" pitchFamily="34" charset="0"/>
            </a:endParaRPr>
          </a:p>
        </p:txBody>
      </p:sp>
      <p:grpSp>
        <p:nvGrpSpPr>
          <p:cNvPr id="21" name="组合 20"/>
          <p:cNvGrpSpPr/>
          <p:nvPr>
            <p:custDataLst>
              <p:tags r:id="rId1"/>
            </p:custDataLst>
          </p:nvPr>
        </p:nvGrpSpPr>
        <p:grpSpPr>
          <a:xfrm>
            <a:off x="6268085" y="4784725"/>
            <a:ext cx="5201285" cy="1588770"/>
            <a:chOff x="1291" y="1634"/>
            <a:chExt cx="3091" cy="809"/>
          </a:xfrm>
        </p:grpSpPr>
        <p:sp>
          <p:nvSpPr>
            <p:cNvPr id="22" name="矩形: 圆角 1"/>
            <p:cNvSpPr/>
            <p:nvPr>
              <p:custDataLst>
                <p:tags r:id="rId2"/>
              </p:custDataLst>
            </p:nvPr>
          </p:nvSpPr>
          <p:spPr>
            <a:xfrm>
              <a:off x="1291" y="1634"/>
              <a:ext cx="3091" cy="809"/>
            </a:xfrm>
            <a:prstGeom prst="roundRect">
              <a:avLst>
                <a:gd name="adj" fmla="val 1131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solidFill>
                  <a:schemeClr val="bg1"/>
                </a:solidFill>
                <a:latin typeface="Arial" panose="020B0604020202020204" pitchFamily="34" charset="0"/>
                <a:ea typeface="Arial" panose="020B0604020202020204" pitchFamily="34" charset="0"/>
                <a:sym typeface="Arial" panose="020B0604020202020204" pitchFamily="34" charset="0"/>
              </a:endParaRPr>
            </a:p>
          </p:txBody>
        </p:sp>
        <p:sp>
          <p:nvSpPr>
            <p:cNvPr id="23" name="任意多边形: 形状 46"/>
            <p:cNvSpPr/>
            <p:nvPr>
              <p:custDataLst>
                <p:tags r:id="rId3"/>
              </p:custDataLst>
            </p:nvPr>
          </p:nvSpPr>
          <p:spPr>
            <a:xfrm>
              <a:off x="3727" y="1635"/>
              <a:ext cx="655" cy="244"/>
            </a:xfrm>
            <a:custGeom>
              <a:avLst/>
              <a:gdLst>
                <a:gd name="connsiteX0" fmla="*/ 0 w 898574"/>
                <a:gd name="connsiteY0" fmla="*/ 0 h 641023"/>
                <a:gd name="connsiteX1" fmla="*/ 726663 w 898574"/>
                <a:gd name="connsiteY1" fmla="*/ 0 h 641023"/>
                <a:gd name="connsiteX2" fmla="*/ 898574 w 898574"/>
                <a:gd name="connsiteY2" fmla="*/ 171911 h 641023"/>
                <a:gd name="connsiteX3" fmla="*/ 898574 w 898574"/>
                <a:gd name="connsiteY3" fmla="*/ 641023 h 641023"/>
                <a:gd name="connsiteX4" fmla="*/ 828427 w 898574"/>
                <a:gd name="connsiteY4" fmla="*/ 637481 h 641023"/>
                <a:gd name="connsiteX5" fmla="*/ 12567 w 898574"/>
                <a:gd name="connsiteY5" fmla="*/ 34337 h 641023"/>
                <a:gd name="connsiteX6" fmla="*/ 0 w 898574"/>
                <a:gd name="connsiteY6" fmla="*/ 0 h 64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8574" h="641023">
                  <a:moveTo>
                    <a:pt x="0" y="0"/>
                  </a:moveTo>
                  <a:lnTo>
                    <a:pt x="726663" y="0"/>
                  </a:lnTo>
                  <a:cubicBezTo>
                    <a:pt x="821607" y="0"/>
                    <a:pt x="898574" y="76967"/>
                    <a:pt x="898574" y="171911"/>
                  </a:cubicBezTo>
                  <a:lnTo>
                    <a:pt x="898574" y="641023"/>
                  </a:lnTo>
                  <a:lnTo>
                    <a:pt x="828427" y="637481"/>
                  </a:lnTo>
                  <a:cubicBezTo>
                    <a:pt x="460135" y="600079"/>
                    <a:pt x="151163" y="362012"/>
                    <a:pt x="12567" y="34337"/>
                  </a:cubicBezTo>
                  <a:lnTo>
                    <a:pt x="0" y="0"/>
                  </a:lnTo>
                  <a:close/>
                </a:path>
              </a:pathLst>
            </a:custGeom>
            <a:gradFill>
              <a:gsLst>
                <a:gs pos="14000">
                  <a:schemeClr val="bg1">
                    <a:lumMod val="95000"/>
                    <a:alpha val="0"/>
                  </a:schemeClr>
                </a:gs>
                <a:gs pos="59000">
                  <a:schemeClr val="bg1">
                    <a:lumMod val="85000"/>
                    <a:alpha val="43000"/>
                  </a:schemeClr>
                </a:gs>
                <a:gs pos="82000">
                  <a:schemeClr val="bg1">
                    <a:lumMod val="85000"/>
                    <a:alpha val="72000"/>
                  </a:schemeClr>
                </a:gs>
                <a:gs pos="100000">
                  <a:schemeClr val="bg1">
                    <a:lumMod val="8500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Arial" panose="020B0604020202020204" pitchFamily="34" charset="0"/>
                <a:ea typeface="Arial" panose="020B0604020202020204" pitchFamily="34" charset="0"/>
                <a:sym typeface="Arial" panose="020B0604020202020204" pitchFamily="34" charset="0"/>
              </a:endParaRPr>
            </a:p>
          </p:txBody>
        </p:sp>
      </p:grpSp>
      <p:sp>
        <p:nvSpPr>
          <p:cNvPr id="24" name="文本框 23"/>
          <p:cNvSpPr txBox="1"/>
          <p:nvPr>
            <p:custDataLst>
              <p:tags r:id="rId4"/>
            </p:custDataLst>
          </p:nvPr>
        </p:nvSpPr>
        <p:spPr>
          <a:xfrm>
            <a:off x="6511925" y="4827905"/>
            <a:ext cx="4956810" cy="1553210"/>
          </a:xfrm>
          <a:prstGeom prst="rect">
            <a:avLst/>
          </a:prstGeom>
          <a:noFill/>
          <a:ln w="1905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t" anchorCtr="0">
            <a:noAutofit/>
          </a:bodyPr>
          <a:p>
            <a:pPr indent="0" algn="l">
              <a:lnSpc>
                <a:spcPct val="150000"/>
              </a:lnSpc>
              <a:buClr>
                <a:srgbClr val="FF9001"/>
              </a:buClr>
              <a:buFont typeface="Wingdings" panose="05000000000000000000" pitchFamily="2" charset="2"/>
              <a:buNone/>
              <a:defRPr sz="1400"/>
            </a:pPr>
            <a:r>
              <a:rPr lang="en-US" altLang="zh-CN" sz="1200">
                <a:solidFill>
                  <a:schemeClr val="tx2">
                    <a:lumMod val="75000"/>
                  </a:schemeClr>
                </a:solidFill>
                <a:latin typeface="Arial" panose="020B0604020202020204" pitchFamily="34" charset="0"/>
                <a:cs typeface="Arial" panose="020B0604020202020204" pitchFamily="34" charset="0"/>
                <a:sym typeface="+mn-ea"/>
              </a:rPr>
              <a:t>      </a:t>
            </a:r>
            <a:r>
              <a:rPr lang="zh-CN" altLang="en-US" sz="1200">
                <a:solidFill>
                  <a:schemeClr val="tx2">
                    <a:lumMod val="75000"/>
                  </a:schemeClr>
                </a:solidFill>
                <a:latin typeface="Arial" panose="020B0604020202020204" pitchFamily="34" charset="0"/>
                <a:cs typeface="Arial" panose="020B0604020202020204" pitchFamily="34" charset="0"/>
                <a:sym typeface="+mn-ea"/>
              </a:rPr>
              <a:t>MakerDAO</a:t>
            </a:r>
            <a:endParaRPr lang="zh-CN" altLang="en-US" sz="1200">
              <a:solidFill>
                <a:schemeClr val="tx2">
                  <a:lumMod val="75000"/>
                </a:schemeClr>
              </a:solidFill>
              <a:latin typeface="Arial" panose="020B0604020202020204" pitchFamily="34" charset="0"/>
              <a:cs typeface="Arial" panose="020B0604020202020204" pitchFamily="34" charset="0"/>
              <a:sym typeface="+mn-ea"/>
            </a:endParaRPr>
          </a:p>
          <a:p>
            <a:pPr indent="0" algn="l">
              <a:lnSpc>
                <a:spcPct val="150000"/>
              </a:lnSpc>
              <a:buClr>
                <a:srgbClr val="FF9001"/>
              </a:buClr>
              <a:buFont typeface="Wingdings" panose="05000000000000000000" pitchFamily="2" charset="2"/>
              <a:buNone/>
              <a:defRPr sz="1400"/>
            </a:pPr>
            <a:r>
              <a:rPr lang="zh-CN" altLang="en-US" sz="1200">
                <a:solidFill>
                  <a:schemeClr val="tx2">
                    <a:lumMod val="75000"/>
                  </a:schemeClr>
                </a:solidFill>
                <a:latin typeface="Arial" panose="020B0604020202020204" pitchFamily="34" charset="0"/>
                <a:cs typeface="Arial" panose="020B0604020202020204" pitchFamily="34" charset="0"/>
                <a:sym typeface="+mn-ea"/>
              </a:rPr>
              <a:t>一个类似于</a:t>
            </a:r>
            <a:r>
              <a:rPr lang="zh-CN" altLang="en-US" sz="1200" b="1">
                <a:solidFill>
                  <a:schemeClr val="tx2">
                    <a:lumMod val="75000"/>
                  </a:schemeClr>
                </a:solidFill>
                <a:latin typeface="Arial" panose="020B0604020202020204" pitchFamily="34" charset="0"/>
                <a:cs typeface="Arial" panose="020B0604020202020204" pitchFamily="34" charset="0"/>
                <a:sym typeface="+mn-ea"/>
              </a:rPr>
              <a:t>抵押债务头寸</a:t>
            </a:r>
            <a:r>
              <a:rPr lang="zh-CN" altLang="en-US" sz="1200">
                <a:solidFill>
                  <a:schemeClr val="tx2">
                    <a:lumMod val="75000"/>
                  </a:schemeClr>
                </a:solidFill>
                <a:latin typeface="Arial" panose="020B0604020202020204" pitchFamily="34" charset="0"/>
                <a:cs typeface="Arial" panose="020B0604020202020204" pitchFamily="34" charset="0"/>
                <a:sym typeface="+mn-ea"/>
              </a:rPr>
              <a:t>的去中心化借贷协议，</a:t>
            </a:r>
            <a:r>
              <a:rPr lang="zh-CN" altLang="en-US" sz="1200">
                <a:solidFill>
                  <a:schemeClr val="tx2">
                    <a:lumMod val="75000"/>
                  </a:schemeClr>
                </a:solidFill>
                <a:latin typeface="Arial" panose="020B0604020202020204" pitchFamily="34" charset="0"/>
                <a:cs typeface="Arial" panose="020B0604020202020204" pitchFamily="34" charset="0"/>
                <a:sym typeface="+mn-ea"/>
              </a:rPr>
              <a:t>通过将抵押品（加密资产、现实世界资产）存入智能合约资金库，来铸造与美元挂钩的去中心化稳定币，从而实现超额抵押贷款</a:t>
            </a:r>
            <a:r>
              <a:rPr lang="zh-CN" altLang="en-US" sz="1200">
                <a:solidFill>
                  <a:schemeClr val="tx2">
                    <a:lumMod val="75000"/>
                  </a:schemeClr>
                </a:solidFill>
                <a:latin typeface="Arial" panose="020B0604020202020204" pitchFamily="34" charset="0"/>
                <a:cs typeface="Arial" panose="020B0604020202020204" pitchFamily="34" charset="0"/>
                <a:sym typeface="+mn-ea"/>
              </a:rPr>
              <a:t>。</a:t>
            </a:r>
            <a:endParaRPr lang="zh-CN" altLang="en-US" sz="1200">
              <a:solidFill>
                <a:schemeClr val="tx2">
                  <a:lumMod val="75000"/>
                </a:schemeClr>
              </a:solidFill>
              <a:latin typeface="Arial" panose="020B0604020202020204" pitchFamily="34" charset="0"/>
              <a:cs typeface="Arial" panose="020B0604020202020204" pitchFamily="34" charset="0"/>
              <a:sym typeface="+mn-ea"/>
            </a:endParaRPr>
          </a:p>
          <a:p>
            <a:pPr indent="0" algn="l">
              <a:lnSpc>
                <a:spcPct val="150000"/>
              </a:lnSpc>
              <a:buClr>
                <a:srgbClr val="FF9001"/>
              </a:buClr>
              <a:buFont typeface="Wingdings" panose="05000000000000000000" pitchFamily="2" charset="2"/>
              <a:buNone/>
              <a:defRPr sz="1400"/>
            </a:pPr>
            <a:r>
              <a:rPr lang="zh-CN" altLang="en-US" sz="1200">
                <a:solidFill>
                  <a:schemeClr val="tx2">
                    <a:lumMod val="75000"/>
                  </a:schemeClr>
                </a:solidFill>
                <a:latin typeface="Arial" panose="020B0604020202020204" pitchFamily="34" charset="0"/>
                <a:cs typeface="Arial" panose="020B0604020202020204" pitchFamily="34" charset="0"/>
                <a:sym typeface="+mn-ea"/>
              </a:rPr>
              <a:t>目前链上总锁定价值（TVL）超</a:t>
            </a:r>
            <a:r>
              <a:rPr lang="en-US" altLang="zh-CN" sz="1200">
                <a:solidFill>
                  <a:schemeClr val="tx2">
                    <a:lumMod val="75000"/>
                  </a:schemeClr>
                </a:solidFill>
                <a:latin typeface="Arial" panose="020B0604020202020204" pitchFamily="34" charset="0"/>
                <a:cs typeface="Arial" panose="020B0604020202020204" pitchFamily="34" charset="0"/>
                <a:sym typeface="+mn-ea"/>
              </a:rPr>
              <a:t>50</a:t>
            </a:r>
            <a:r>
              <a:rPr lang="zh-CN" altLang="en-US" sz="1200">
                <a:solidFill>
                  <a:schemeClr val="tx2">
                    <a:lumMod val="75000"/>
                  </a:schemeClr>
                </a:solidFill>
                <a:latin typeface="Arial" panose="020B0604020202020204" pitchFamily="34" charset="0"/>
                <a:cs typeface="Arial" panose="020B0604020202020204" pitchFamily="34" charset="0"/>
                <a:sym typeface="+mn-ea"/>
              </a:rPr>
              <a:t>亿美元。</a:t>
            </a:r>
            <a:endParaRPr sz="1200" dirty="0" smtClean="0">
              <a:solidFill>
                <a:schemeClr val="tx1"/>
              </a:solidFill>
              <a:latin typeface="Arial" panose="020B0604020202020204" pitchFamily="34" charset="0"/>
              <a:ea typeface="Arial" panose="020B0604020202020204" pitchFamily="34" charset="0"/>
            </a:endParaRPr>
          </a:p>
        </p:txBody>
      </p:sp>
      <p:pic>
        <p:nvPicPr>
          <p:cNvPr id="32" name="图片 31"/>
          <p:cNvPicPr>
            <a:picLocks noChangeAspect="1"/>
          </p:cNvPicPr>
          <p:nvPr/>
        </p:nvPicPr>
        <p:blipFill>
          <a:blip r:embed="rId5"/>
          <a:stretch>
            <a:fillRect/>
          </a:stretch>
        </p:blipFill>
        <p:spPr>
          <a:xfrm>
            <a:off x="1064895" y="2857500"/>
            <a:ext cx="4956175" cy="1927225"/>
          </a:xfrm>
          <a:prstGeom prst="rect">
            <a:avLst/>
          </a:prstGeom>
        </p:spPr>
      </p:pic>
      <p:grpSp>
        <p:nvGrpSpPr>
          <p:cNvPr id="33" name="组合 32"/>
          <p:cNvGrpSpPr/>
          <p:nvPr>
            <p:custDataLst>
              <p:tags r:id="rId6"/>
            </p:custDataLst>
          </p:nvPr>
        </p:nvGrpSpPr>
        <p:grpSpPr>
          <a:xfrm>
            <a:off x="6267450" y="3186430"/>
            <a:ext cx="5201920" cy="1516380"/>
            <a:chOff x="1291" y="1634"/>
            <a:chExt cx="3091" cy="809"/>
          </a:xfrm>
        </p:grpSpPr>
        <p:sp>
          <p:nvSpPr>
            <p:cNvPr id="34" name="矩形: 圆角 1"/>
            <p:cNvSpPr/>
            <p:nvPr>
              <p:custDataLst>
                <p:tags r:id="rId7"/>
              </p:custDataLst>
            </p:nvPr>
          </p:nvSpPr>
          <p:spPr>
            <a:xfrm>
              <a:off x="1291" y="1634"/>
              <a:ext cx="3091" cy="809"/>
            </a:xfrm>
            <a:prstGeom prst="roundRect">
              <a:avLst>
                <a:gd name="adj" fmla="val 1131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solidFill>
                  <a:schemeClr val="bg1"/>
                </a:solidFill>
                <a:latin typeface="Arial" panose="020B0604020202020204" pitchFamily="34" charset="0"/>
                <a:ea typeface="Arial" panose="020B0604020202020204" pitchFamily="34" charset="0"/>
                <a:sym typeface="Arial" panose="020B0604020202020204" pitchFamily="34" charset="0"/>
              </a:endParaRPr>
            </a:p>
          </p:txBody>
        </p:sp>
        <p:sp>
          <p:nvSpPr>
            <p:cNvPr id="35" name="任意多边形: 形状 46"/>
            <p:cNvSpPr/>
            <p:nvPr>
              <p:custDataLst>
                <p:tags r:id="rId8"/>
              </p:custDataLst>
            </p:nvPr>
          </p:nvSpPr>
          <p:spPr>
            <a:xfrm>
              <a:off x="3727" y="1635"/>
              <a:ext cx="655" cy="244"/>
            </a:xfrm>
            <a:custGeom>
              <a:avLst/>
              <a:gdLst>
                <a:gd name="connsiteX0" fmla="*/ 0 w 898574"/>
                <a:gd name="connsiteY0" fmla="*/ 0 h 641023"/>
                <a:gd name="connsiteX1" fmla="*/ 726663 w 898574"/>
                <a:gd name="connsiteY1" fmla="*/ 0 h 641023"/>
                <a:gd name="connsiteX2" fmla="*/ 898574 w 898574"/>
                <a:gd name="connsiteY2" fmla="*/ 171911 h 641023"/>
                <a:gd name="connsiteX3" fmla="*/ 898574 w 898574"/>
                <a:gd name="connsiteY3" fmla="*/ 641023 h 641023"/>
                <a:gd name="connsiteX4" fmla="*/ 828427 w 898574"/>
                <a:gd name="connsiteY4" fmla="*/ 637481 h 641023"/>
                <a:gd name="connsiteX5" fmla="*/ 12567 w 898574"/>
                <a:gd name="connsiteY5" fmla="*/ 34337 h 641023"/>
                <a:gd name="connsiteX6" fmla="*/ 0 w 898574"/>
                <a:gd name="connsiteY6" fmla="*/ 0 h 64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8574" h="641023">
                  <a:moveTo>
                    <a:pt x="0" y="0"/>
                  </a:moveTo>
                  <a:lnTo>
                    <a:pt x="726663" y="0"/>
                  </a:lnTo>
                  <a:cubicBezTo>
                    <a:pt x="821607" y="0"/>
                    <a:pt x="898574" y="76967"/>
                    <a:pt x="898574" y="171911"/>
                  </a:cubicBezTo>
                  <a:lnTo>
                    <a:pt x="898574" y="641023"/>
                  </a:lnTo>
                  <a:lnTo>
                    <a:pt x="828427" y="637481"/>
                  </a:lnTo>
                  <a:cubicBezTo>
                    <a:pt x="460135" y="600079"/>
                    <a:pt x="151163" y="362012"/>
                    <a:pt x="12567" y="34337"/>
                  </a:cubicBezTo>
                  <a:lnTo>
                    <a:pt x="0" y="0"/>
                  </a:lnTo>
                  <a:close/>
                </a:path>
              </a:pathLst>
            </a:custGeom>
            <a:gradFill>
              <a:gsLst>
                <a:gs pos="14000">
                  <a:schemeClr val="bg1">
                    <a:lumMod val="95000"/>
                    <a:alpha val="0"/>
                  </a:schemeClr>
                </a:gs>
                <a:gs pos="59000">
                  <a:schemeClr val="bg1">
                    <a:lumMod val="85000"/>
                    <a:alpha val="43000"/>
                  </a:schemeClr>
                </a:gs>
                <a:gs pos="82000">
                  <a:schemeClr val="bg1">
                    <a:lumMod val="85000"/>
                    <a:alpha val="72000"/>
                  </a:schemeClr>
                </a:gs>
                <a:gs pos="100000">
                  <a:schemeClr val="bg1">
                    <a:lumMod val="8500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Arial" panose="020B0604020202020204" pitchFamily="34" charset="0"/>
                <a:ea typeface="Arial" panose="020B0604020202020204" pitchFamily="34" charset="0"/>
                <a:sym typeface="Arial" panose="020B0604020202020204" pitchFamily="34" charset="0"/>
              </a:endParaRPr>
            </a:p>
          </p:txBody>
        </p:sp>
      </p:grpSp>
      <p:sp>
        <p:nvSpPr>
          <p:cNvPr id="36" name="文本框 35"/>
          <p:cNvSpPr txBox="1"/>
          <p:nvPr>
            <p:custDataLst>
              <p:tags r:id="rId9"/>
            </p:custDataLst>
          </p:nvPr>
        </p:nvSpPr>
        <p:spPr>
          <a:xfrm>
            <a:off x="6455410" y="3186430"/>
            <a:ext cx="4956810" cy="1409700"/>
          </a:xfrm>
          <a:prstGeom prst="rect">
            <a:avLst/>
          </a:prstGeom>
          <a:noFill/>
          <a:ln w="1905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t" anchorCtr="0">
            <a:noAutofit/>
          </a:bodyPr>
          <a:p>
            <a:pPr indent="0" algn="l">
              <a:lnSpc>
                <a:spcPct val="150000"/>
              </a:lnSpc>
              <a:buClr>
                <a:srgbClr val="FF9001"/>
              </a:buClr>
              <a:buFont typeface="Wingdings" panose="05000000000000000000" pitchFamily="2" charset="2"/>
              <a:buNone/>
              <a:defRPr sz="1400"/>
            </a:pPr>
            <a:r>
              <a:rPr lang="en-US" altLang="zh-CN" sz="1200">
                <a:solidFill>
                  <a:schemeClr val="tx2">
                    <a:lumMod val="75000"/>
                  </a:schemeClr>
                </a:solidFill>
                <a:latin typeface="Arial" panose="020B0604020202020204" pitchFamily="34" charset="0"/>
                <a:cs typeface="Arial" panose="020B0604020202020204" pitchFamily="34" charset="0"/>
                <a:sym typeface="+mn-ea"/>
              </a:rPr>
              <a:t>      </a:t>
            </a:r>
            <a:r>
              <a:rPr lang="zh-CN" altLang="en-US" sz="1200">
                <a:solidFill>
                  <a:schemeClr val="tx2">
                    <a:lumMod val="75000"/>
                  </a:schemeClr>
                </a:solidFill>
                <a:latin typeface="Arial" panose="020B0604020202020204" pitchFamily="34" charset="0"/>
                <a:cs typeface="Arial" panose="020B0604020202020204" pitchFamily="34" charset="0"/>
                <a:sym typeface="+mn-ea"/>
              </a:rPr>
              <a:t>Aave</a:t>
            </a:r>
            <a:endParaRPr lang="zh-CN" altLang="en-US" sz="1200">
              <a:solidFill>
                <a:schemeClr val="tx2">
                  <a:lumMod val="75000"/>
                </a:schemeClr>
              </a:solidFill>
              <a:latin typeface="Arial" panose="020B0604020202020204" pitchFamily="34" charset="0"/>
              <a:cs typeface="Arial" panose="020B0604020202020204" pitchFamily="34" charset="0"/>
              <a:sym typeface="+mn-ea"/>
            </a:endParaRPr>
          </a:p>
          <a:p>
            <a:pPr indent="0" algn="l">
              <a:lnSpc>
                <a:spcPct val="150000"/>
              </a:lnSpc>
              <a:buClr>
                <a:srgbClr val="FF9001"/>
              </a:buClr>
              <a:buFont typeface="Wingdings" panose="05000000000000000000" pitchFamily="2" charset="2"/>
              <a:buNone/>
              <a:defRPr sz="1400"/>
            </a:pPr>
            <a:r>
              <a:rPr lang="zh-CN" altLang="en-US" sz="1200">
                <a:solidFill>
                  <a:schemeClr val="tx2">
                    <a:lumMod val="75000"/>
                  </a:schemeClr>
                </a:solidFill>
                <a:latin typeface="Arial" panose="020B0604020202020204" pitchFamily="34" charset="0"/>
                <a:cs typeface="Arial" panose="020B0604020202020204" pitchFamily="34" charset="0"/>
                <a:sym typeface="+mn-ea"/>
              </a:rPr>
              <a:t>一个</a:t>
            </a:r>
            <a:r>
              <a:rPr lang="zh-CN" altLang="en-US" sz="1200" b="1">
                <a:solidFill>
                  <a:schemeClr val="tx2">
                    <a:lumMod val="75000"/>
                  </a:schemeClr>
                </a:solidFill>
                <a:latin typeface="Arial" panose="020B0604020202020204" pitchFamily="34" charset="0"/>
                <a:cs typeface="Arial" panose="020B0604020202020204" pitchFamily="34" charset="0"/>
                <a:sym typeface="+mn-ea"/>
              </a:rPr>
              <a:t>基于流动池</a:t>
            </a:r>
            <a:r>
              <a:rPr lang="zh-CN" altLang="en-US" sz="1200">
                <a:solidFill>
                  <a:schemeClr val="tx2">
                    <a:lumMod val="75000"/>
                  </a:schemeClr>
                </a:solidFill>
                <a:latin typeface="Arial" panose="020B0604020202020204" pitchFamily="34" charset="0"/>
                <a:cs typeface="Arial" panose="020B0604020202020204" pitchFamily="34" charset="0"/>
                <a:sym typeface="+mn-ea"/>
              </a:rPr>
              <a:t>的去中心借贷协议，通过算法自动控制借款和贷款利率，存款人将加密货币存入可用的贷款池来提供流动性，并获得利息。借款人可以通过利用这些流动资金池获得贷款并支付利息</a:t>
            </a:r>
            <a:r>
              <a:rPr lang="zh-CN" altLang="en-US" sz="1200">
                <a:solidFill>
                  <a:schemeClr val="tx2">
                    <a:lumMod val="75000"/>
                  </a:schemeClr>
                </a:solidFill>
                <a:latin typeface="Arial" panose="020B0604020202020204" pitchFamily="34" charset="0"/>
                <a:cs typeface="Arial" panose="020B0604020202020204" pitchFamily="34" charset="0"/>
                <a:sym typeface="+mn-ea"/>
              </a:rPr>
              <a:t>。</a:t>
            </a:r>
            <a:endParaRPr lang="zh-CN" altLang="en-US" sz="1200">
              <a:solidFill>
                <a:schemeClr val="tx2">
                  <a:lumMod val="75000"/>
                </a:schemeClr>
              </a:solidFill>
              <a:latin typeface="Arial" panose="020B0604020202020204" pitchFamily="34" charset="0"/>
              <a:cs typeface="Arial" panose="020B0604020202020204" pitchFamily="34" charset="0"/>
              <a:sym typeface="+mn-ea"/>
            </a:endParaRPr>
          </a:p>
          <a:p>
            <a:pPr indent="0" algn="l">
              <a:lnSpc>
                <a:spcPct val="150000"/>
              </a:lnSpc>
              <a:buClr>
                <a:srgbClr val="FF9001"/>
              </a:buClr>
              <a:buFont typeface="Wingdings" panose="05000000000000000000" pitchFamily="2" charset="2"/>
              <a:buNone/>
              <a:defRPr sz="1400"/>
            </a:pPr>
            <a:r>
              <a:rPr lang="zh-CN" altLang="en-US" sz="1200">
                <a:solidFill>
                  <a:schemeClr val="tx2">
                    <a:lumMod val="75000"/>
                  </a:schemeClr>
                </a:solidFill>
                <a:latin typeface="Arial" panose="020B0604020202020204" pitchFamily="34" charset="0"/>
                <a:cs typeface="Arial" panose="020B0604020202020204" pitchFamily="34" charset="0"/>
                <a:sym typeface="+mn-ea"/>
              </a:rPr>
              <a:t>目前链上总锁定价值（TVL）超</a:t>
            </a:r>
            <a:r>
              <a:rPr lang="en-US" altLang="zh-CN" sz="1200">
                <a:solidFill>
                  <a:schemeClr val="tx2">
                    <a:lumMod val="75000"/>
                  </a:schemeClr>
                </a:solidFill>
                <a:latin typeface="Arial" panose="020B0604020202020204" pitchFamily="34" charset="0"/>
                <a:cs typeface="Arial" panose="020B0604020202020204" pitchFamily="34" charset="0"/>
                <a:sym typeface="+mn-ea"/>
              </a:rPr>
              <a:t>100</a:t>
            </a:r>
            <a:r>
              <a:rPr lang="zh-CN" altLang="en-US" sz="1200">
                <a:solidFill>
                  <a:schemeClr val="tx2">
                    <a:lumMod val="75000"/>
                  </a:schemeClr>
                </a:solidFill>
                <a:latin typeface="Arial" panose="020B0604020202020204" pitchFamily="34" charset="0"/>
                <a:cs typeface="Arial" panose="020B0604020202020204" pitchFamily="34" charset="0"/>
                <a:sym typeface="+mn-ea"/>
              </a:rPr>
              <a:t>亿美元。</a:t>
            </a:r>
            <a:endParaRPr lang="zh-CN" altLang="en-US" sz="1200">
              <a:solidFill>
                <a:schemeClr val="tx2">
                  <a:lumMod val="75000"/>
                </a:schemeClr>
              </a:solidFill>
              <a:latin typeface="Arial" panose="020B0604020202020204" pitchFamily="34" charset="0"/>
              <a:cs typeface="Arial" panose="020B0604020202020204" pitchFamily="34" charset="0"/>
              <a:sym typeface="+mn-ea"/>
            </a:endParaRPr>
          </a:p>
          <a:p>
            <a:pPr indent="0" algn="l">
              <a:lnSpc>
                <a:spcPct val="150000"/>
              </a:lnSpc>
              <a:buClr>
                <a:srgbClr val="FF9001"/>
              </a:buClr>
              <a:buFont typeface="Wingdings" panose="05000000000000000000" pitchFamily="2" charset="2"/>
              <a:buNone/>
              <a:defRPr sz="1400"/>
            </a:pPr>
            <a:endParaRPr lang="zh-CN" altLang="en-US" sz="1200" b="0" i="0">
              <a:solidFill>
                <a:schemeClr val="tx2">
                  <a:lumMod val="75000"/>
                </a:schemeClr>
              </a:solidFill>
              <a:latin typeface="Arial" panose="020B0604020202020204" pitchFamily="34" charset="0"/>
              <a:cs typeface="Arial" panose="020B0604020202020204" pitchFamily="34" charset="0"/>
            </a:endParaRPr>
          </a:p>
          <a:p>
            <a:pPr indent="0" algn="l">
              <a:lnSpc>
                <a:spcPct val="150000"/>
              </a:lnSpc>
              <a:buClr>
                <a:srgbClr val="FF9001"/>
              </a:buClr>
              <a:buFont typeface="Wingdings" panose="05000000000000000000" pitchFamily="2" charset="2"/>
              <a:buNone/>
              <a:defRPr sz="1400"/>
            </a:pPr>
            <a:r>
              <a:rPr lang="en-US" sz="1200" dirty="0" smtClean="0">
                <a:solidFill>
                  <a:schemeClr val="tx1"/>
                </a:solidFill>
                <a:latin typeface="Arial" panose="020B0604020202020204" pitchFamily="34" charset="0"/>
                <a:ea typeface="Arial" panose="020B0604020202020204" pitchFamily="34" charset="0"/>
              </a:rPr>
              <a:t>    </a:t>
            </a:r>
            <a:endParaRPr lang="en-US" sz="1200" dirty="0" smtClean="0">
              <a:solidFill>
                <a:schemeClr val="tx1"/>
              </a:solidFill>
              <a:latin typeface="Arial" panose="020B0604020202020204" pitchFamily="34" charset="0"/>
              <a:ea typeface="Arial" panose="020B0604020202020204" pitchFamily="34" charset="0"/>
            </a:endParaRPr>
          </a:p>
        </p:txBody>
      </p:sp>
      <p:pic>
        <p:nvPicPr>
          <p:cNvPr id="2" name="图片 1"/>
          <p:cNvPicPr>
            <a:picLocks noChangeAspect="1"/>
          </p:cNvPicPr>
          <p:nvPr/>
        </p:nvPicPr>
        <p:blipFill>
          <a:blip r:embed="rId10"/>
          <a:stretch>
            <a:fillRect/>
          </a:stretch>
        </p:blipFill>
        <p:spPr>
          <a:xfrm>
            <a:off x="6268085" y="3149600"/>
            <a:ext cx="410845" cy="410210"/>
          </a:xfrm>
          <a:prstGeom prst="rect">
            <a:avLst/>
          </a:prstGeom>
        </p:spPr>
      </p:pic>
      <p:pic>
        <p:nvPicPr>
          <p:cNvPr id="3" name="图片 2"/>
          <p:cNvPicPr>
            <a:picLocks noChangeAspect="1"/>
          </p:cNvPicPr>
          <p:nvPr/>
        </p:nvPicPr>
        <p:blipFill>
          <a:blip r:embed="rId11"/>
          <a:stretch>
            <a:fillRect/>
          </a:stretch>
        </p:blipFill>
        <p:spPr>
          <a:xfrm>
            <a:off x="1064260" y="4874895"/>
            <a:ext cx="473075" cy="534670"/>
          </a:xfrm>
          <a:prstGeom prst="rect">
            <a:avLst/>
          </a:prstGeom>
        </p:spPr>
      </p:pic>
      <p:pic>
        <p:nvPicPr>
          <p:cNvPr id="4" name="图片 3"/>
          <p:cNvPicPr>
            <a:picLocks noChangeAspect="1"/>
          </p:cNvPicPr>
          <p:nvPr/>
        </p:nvPicPr>
        <p:blipFill>
          <a:blip r:embed="rId12"/>
          <a:stretch>
            <a:fillRect/>
          </a:stretch>
        </p:blipFill>
        <p:spPr>
          <a:xfrm>
            <a:off x="6268085" y="4707890"/>
            <a:ext cx="443230" cy="435610"/>
          </a:xfrm>
          <a:prstGeom prst="rect">
            <a:avLst/>
          </a:prstGeom>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930275" y="176530"/>
            <a:ext cx="5097145" cy="375920"/>
          </a:xfrm>
        </p:spPr>
        <p:txBody>
          <a:bodyPr>
            <a:noAutofit/>
          </a:bodyPr>
          <a:lstStyle/>
          <a:p>
            <a:pPr algn="l">
              <a:buSzTx/>
            </a:pPr>
            <a:r>
              <a:rPr lang="zh-CN" altLang="en-US" sz="2700" dirty="0">
                <a:latin typeface="+mj-ea"/>
                <a:ea typeface="+mj-ea"/>
                <a:cs typeface="+mn-ea"/>
                <a:sym typeface="+mn-lt"/>
              </a:rPr>
              <a:t>RWA「Real-World Assets」</a:t>
            </a:r>
            <a:endParaRPr lang="zh-CN" altLang="en-US" sz="2700" dirty="0">
              <a:latin typeface="+mj-ea"/>
              <a:ea typeface="+mj-ea"/>
              <a:cs typeface="+mn-ea"/>
              <a:sym typeface="+mn-lt"/>
            </a:endParaRPr>
          </a:p>
        </p:txBody>
      </p:sp>
      <p:sp>
        <p:nvSpPr>
          <p:cNvPr id="9" name="矩形 8"/>
          <p:cNvSpPr/>
          <p:nvPr/>
        </p:nvSpPr>
        <p:spPr>
          <a:xfrm rot="16200000">
            <a:off x="6531369" y="-834939"/>
            <a:ext cx="374080" cy="1008418"/>
          </a:xfrm>
          <a:prstGeom prst="rect">
            <a:avLst/>
          </a:prstGeom>
          <a:gradFill flip="none" rotWithShape="1">
            <a:gsLst>
              <a:gs pos="0">
                <a:srgbClr val="FFC000"/>
              </a:gs>
              <a:gs pos="100000">
                <a:srgbClr val="FF9001"/>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20204" pitchFamily="34" charset="0"/>
              <a:cs typeface="Arial" panose="020B0604020202020204" pitchFamily="34" charset="0"/>
            </a:endParaRPr>
          </a:p>
        </p:txBody>
      </p:sp>
      <p:sp>
        <p:nvSpPr>
          <p:cNvPr id="10" name="矩形 9"/>
          <p:cNvSpPr/>
          <p:nvPr/>
        </p:nvSpPr>
        <p:spPr>
          <a:xfrm rot="16200000">
            <a:off x="2287592" y="-836153"/>
            <a:ext cx="374080" cy="1008418"/>
          </a:xfrm>
          <a:prstGeom prst="rect">
            <a:avLst/>
          </a:prstGeom>
          <a:gradFill flip="none" rotWithShape="1">
            <a:gsLst>
              <a:gs pos="0">
                <a:srgbClr val="769BFF"/>
              </a:gs>
              <a:gs pos="100000">
                <a:srgbClr val="2864FF"/>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20204" pitchFamily="34" charset="0"/>
              <a:cs typeface="Arial" panose="020B0604020202020204" pitchFamily="34" charset="0"/>
            </a:endParaRPr>
          </a:p>
        </p:txBody>
      </p:sp>
      <p:sp>
        <p:nvSpPr>
          <p:cNvPr id="11" name="矩形 10"/>
          <p:cNvSpPr/>
          <p:nvPr/>
        </p:nvSpPr>
        <p:spPr>
          <a:xfrm rot="16200000">
            <a:off x="4406966" y="-836153"/>
            <a:ext cx="374080" cy="1008418"/>
          </a:xfrm>
          <a:prstGeom prst="rect">
            <a:avLst/>
          </a:prstGeom>
          <a:solidFill>
            <a:srgbClr val="769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20204" pitchFamily="34" charset="0"/>
              <a:cs typeface="Arial" panose="020B0604020202020204" pitchFamily="34" charset="0"/>
            </a:endParaRPr>
          </a:p>
        </p:txBody>
      </p:sp>
      <p:sp>
        <p:nvSpPr>
          <p:cNvPr id="12" name="矩形 11"/>
          <p:cNvSpPr/>
          <p:nvPr/>
        </p:nvSpPr>
        <p:spPr>
          <a:xfrm rot="16200000">
            <a:off x="3347279" y="-836153"/>
            <a:ext cx="374080" cy="1008418"/>
          </a:xfrm>
          <a:prstGeom prst="rect">
            <a:avLst/>
          </a:prstGeom>
          <a:solidFill>
            <a:srgbClr val="286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20204" pitchFamily="34" charset="0"/>
              <a:cs typeface="Arial" panose="020B0604020202020204" pitchFamily="34" charset="0"/>
            </a:endParaRPr>
          </a:p>
        </p:txBody>
      </p:sp>
      <p:sp>
        <p:nvSpPr>
          <p:cNvPr id="13" name="矩形 12"/>
          <p:cNvSpPr/>
          <p:nvPr/>
        </p:nvSpPr>
        <p:spPr>
          <a:xfrm rot="16200000">
            <a:off x="7591056" y="-834939"/>
            <a:ext cx="374080" cy="1008418"/>
          </a:xfrm>
          <a:prstGeom prst="rect">
            <a:avLst/>
          </a:prstGeom>
          <a:solidFill>
            <a:srgbClr val="FF9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20204" pitchFamily="34" charset="0"/>
              <a:cs typeface="Arial" panose="020B0604020202020204" pitchFamily="34" charset="0"/>
            </a:endParaRPr>
          </a:p>
        </p:txBody>
      </p:sp>
      <p:sp>
        <p:nvSpPr>
          <p:cNvPr id="14" name="矩形 13"/>
          <p:cNvSpPr/>
          <p:nvPr/>
        </p:nvSpPr>
        <p:spPr>
          <a:xfrm rot="16200000">
            <a:off x="8650743" y="-834939"/>
            <a:ext cx="374080" cy="100841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20204" pitchFamily="34" charset="0"/>
              <a:cs typeface="Arial" panose="020B0604020202020204" pitchFamily="34" charset="0"/>
            </a:endParaRPr>
          </a:p>
        </p:txBody>
      </p:sp>
      <p:sp>
        <p:nvSpPr>
          <p:cNvPr id="15" name="矩形 14"/>
          <p:cNvSpPr/>
          <p:nvPr/>
        </p:nvSpPr>
        <p:spPr>
          <a:xfrm rot="16200000">
            <a:off x="5466653" y="-836153"/>
            <a:ext cx="374080" cy="1008418"/>
          </a:xfrm>
          <a:prstGeom prst="rect">
            <a:avLst/>
          </a:prstGeom>
          <a:solidFill>
            <a:srgbClr val="0663FF">
              <a:alpha val="50000"/>
            </a:srgbClr>
          </a:solidFill>
          <a:ln>
            <a:noFill/>
          </a:ln>
          <a:effectLst>
            <a:outerShdw blurRad="469900" sx="102000" sy="102000" algn="ctr" rotWithShape="0">
              <a:srgbClr val="0600F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charset="-122"/>
              <a:ea typeface="微软雅黑" panose="020B0503020204020204" charset="-122"/>
            </a:endParaRPr>
          </a:p>
        </p:txBody>
      </p:sp>
      <p:sp>
        <p:nvSpPr>
          <p:cNvPr id="16" name="矩形 15"/>
          <p:cNvSpPr/>
          <p:nvPr/>
        </p:nvSpPr>
        <p:spPr>
          <a:xfrm rot="16200000">
            <a:off x="9710430" y="-834939"/>
            <a:ext cx="374080" cy="1008418"/>
          </a:xfrm>
          <a:prstGeom prst="rect">
            <a:avLst/>
          </a:prstGeom>
          <a:solidFill>
            <a:srgbClr val="FF9001">
              <a:alpha val="50000"/>
            </a:srgbClr>
          </a:solidFill>
          <a:ln>
            <a:noFill/>
          </a:ln>
          <a:effectLst>
            <a:outerShdw blurRad="469900" sx="102000" sy="102000" algn="ctr" rotWithShape="0">
              <a:srgbClr val="FF9001">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charset="-122"/>
              <a:ea typeface="微软雅黑" panose="020B0503020204020204" charset="-122"/>
            </a:endParaRPr>
          </a:p>
        </p:txBody>
      </p:sp>
      <p:sp>
        <p:nvSpPr>
          <p:cNvPr id="7" name="文本框 6"/>
          <p:cNvSpPr txBox="1"/>
          <p:nvPr/>
        </p:nvSpPr>
        <p:spPr>
          <a:xfrm>
            <a:off x="908050" y="690245"/>
            <a:ext cx="10266680" cy="13823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285750" indent="-285750" algn="l">
              <a:lnSpc>
                <a:spcPct val="150000"/>
              </a:lnSpc>
              <a:buClr>
                <a:srgbClr val="FF9001"/>
              </a:buClr>
              <a:buFont typeface="Wingdings" panose="05000000000000000000" pitchFamily="2" charset="2"/>
              <a:buChar char="ü"/>
              <a:defRPr sz="1400"/>
            </a:pPr>
            <a:r>
              <a:rPr lang="zh-CN" altLang="en-US" sz="1400">
                <a:solidFill>
                  <a:schemeClr val="tx2">
                    <a:lumMod val="75000"/>
                  </a:schemeClr>
                </a:solidFill>
                <a:latin typeface="Arial" panose="020B0604020202020204" pitchFamily="34" charset="0"/>
                <a:cs typeface="Arial" panose="020B0604020202020204" pitchFamily="34" charset="0"/>
              </a:rPr>
              <a:t>RWA 的核心逻辑是将现实世界中的金融资产（如美国国债、固定收益证券等生息资产，股票等权益类资产</a:t>
            </a:r>
            <a:r>
              <a:rPr lang="zh-CN" altLang="en-US">
                <a:solidFill>
                  <a:schemeClr val="tx2">
                    <a:lumMod val="75000"/>
                  </a:schemeClr>
                </a:solidFill>
                <a:latin typeface="Arial" panose="020B0604020202020204" pitchFamily="34" charset="0"/>
                <a:cs typeface="Arial" panose="020B0604020202020204" pitchFamily="34" charset="0"/>
                <a:sym typeface="+mn-ea"/>
              </a:rPr>
              <a:t>，以及房地产、应收账款</a:t>
            </a:r>
            <a:r>
              <a:rPr lang="zh-CN" altLang="en-US">
                <a:solidFill>
                  <a:schemeClr val="tx2">
                    <a:lumMod val="75000"/>
                  </a:schemeClr>
                </a:solidFill>
                <a:latin typeface="Arial" panose="020B0604020202020204" pitchFamily="34" charset="0"/>
                <a:cs typeface="Arial" panose="020B0604020202020204" pitchFamily="34" charset="0"/>
                <a:sym typeface="+mn-ea"/>
              </a:rPr>
              <a:t>等</a:t>
            </a:r>
            <a:r>
              <a:rPr lang="zh-CN" altLang="en-US" sz="1400">
                <a:solidFill>
                  <a:schemeClr val="tx2">
                    <a:lumMod val="75000"/>
                  </a:schemeClr>
                </a:solidFill>
                <a:latin typeface="Arial" panose="020B0604020202020204" pitchFamily="34" charset="0"/>
                <a:cs typeface="Arial" panose="020B0604020202020204" pitchFamily="34" charset="0"/>
              </a:rPr>
              <a:t>）的收益权映射到区块链上，并通过抵押链下资产获取链上资产的流动性</a:t>
            </a:r>
            <a:r>
              <a:rPr lang="zh-CN" altLang="en-US">
                <a:solidFill>
                  <a:schemeClr val="tx2">
                    <a:lumMod val="75000"/>
                  </a:schemeClr>
                </a:solidFill>
                <a:latin typeface="Arial" panose="020B0604020202020204" pitchFamily="34" charset="0"/>
                <a:cs typeface="Arial" panose="020B0604020202020204" pitchFamily="34" charset="0"/>
                <a:sym typeface="+mn-ea"/>
              </a:rPr>
              <a:t>。</a:t>
            </a:r>
            <a:endParaRPr lang="zh-CN" altLang="en-US" sz="1400">
              <a:solidFill>
                <a:schemeClr val="tx2">
                  <a:lumMod val="75000"/>
                </a:schemeClr>
              </a:solidFill>
              <a:latin typeface="Arial" panose="020B0604020202020204" pitchFamily="34" charset="0"/>
              <a:cs typeface="Arial" panose="020B0604020202020204" pitchFamily="34" charset="0"/>
            </a:endParaRPr>
          </a:p>
          <a:p>
            <a:pPr marL="285750" indent="-285750" algn="l">
              <a:lnSpc>
                <a:spcPct val="150000"/>
              </a:lnSpc>
              <a:buClr>
                <a:srgbClr val="FF9001"/>
              </a:buClr>
              <a:buFont typeface="Wingdings" panose="05000000000000000000" pitchFamily="2" charset="2"/>
              <a:buChar char="ü"/>
              <a:defRPr sz="1400"/>
            </a:pPr>
            <a:r>
              <a:rPr lang="zh-CN" altLang="en-US" sz="1400">
                <a:solidFill>
                  <a:schemeClr val="tx2">
                    <a:lumMod val="75000"/>
                  </a:schemeClr>
                </a:solidFill>
                <a:latin typeface="Arial" panose="020B0604020202020204" pitchFamily="34" charset="0"/>
                <a:cs typeface="Arial" panose="020B0604020202020204" pitchFamily="34" charset="0"/>
              </a:rPr>
              <a:t>自 2023 年 5 月迎来大爆发，据 RWA.xyz 官网数据，RWA 链上资产总价值达119.6亿美元，持有者多达 62440 人，资产发行方数量为 104。</a:t>
            </a:r>
            <a:endParaRPr lang="zh-CN" altLang="en-US" sz="1400">
              <a:solidFill>
                <a:schemeClr val="tx2">
                  <a:lumMod val="75000"/>
                </a:schemeClr>
              </a:solidFill>
              <a:latin typeface="Arial" panose="020B0604020202020204" pitchFamily="34" charset="0"/>
              <a:cs typeface="Arial" panose="020B0604020202020204" pitchFamily="34" charset="0"/>
            </a:endParaRPr>
          </a:p>
        </p:txBody>
      </p:sp>
      <p:grpSp>
        <p:nvGrpSpPr>
          <p:cNvPr id="66" name="组合 65"/>
          <p:cNvGrpSpPr/>
          <p:nvPr/>
        </p:nvGrpSpPr>
        <p:grpSpPr>
          <a:xfrm>
            <a:off x="930275" y="4726940"/>
            <a:ext cx="5337810" cy="1868805"/>
            <a:chOff x="1291" y="1634"/>
            <a:chExt cx="3091" cy="809"/>
          </a:xfrm>
        </p:grpSpPr>
        <p:sp>
          <p:nvSpPr>
            <p:cNvPr id="67" name="矩形: 圆角 1"/>
            <p:cNvSpPr/>
            <p:nvPr/>
          </p:nvSpPr>
          <p:spPr>
            <a:xfrm>
              <a:off x="1291" y="1634"/>
              <a:ext cx="3091" cy="809"/>
            </a:xfrm>
            <a:prstGeom prst="roundRect">
              <a:avLst>
                <a:gd name="adj" fmla="val 1131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solidFill>
                  <a:schemeClr val="bg1"/>
                </a:solidFill>
                <a:latin typeface="Arial" panose="020B0604020202020204" pitchFamily="34" charset="0"/>
                <a:ea typeface="Arial" panose="020B0604020202020204" pitchFamily="34" charset="0"/>
                <a:sym typeface="Arial" panose="020B0604020202020204" pitchFamily="34" charset="0"/>
              </a:endParaRPr>
            </a:p>
          </p:txBody>
        </p:sp>
        <p:sp>
          <p:nvSpPr>
            <p:cNvPr id="68" name="任意多边形: 形状 46"/>
            <p:cNvSpPr/>
            <p:nvPr/>
          </p:nvSpPr>
          <p:spPr>
            <a:xfrm>
              <a:off x="3727" y="1635"/>
              <a:ext cx="655" cy="244"/>
            </a:xfrm>
            <a:custGeom>
              <a:avLst/>
              <a:gdLst>
                <a:gd name="connsiteX0" fmla="*/ 0 w 898574"/>
                <a:gd name="connsiteY0" fmla="*/ 0 h 641023"/>
                <a:gd name="connsiteX1" fmla="*/ 726663 w 898574"/>
                <a:gd name="connsiteY1" fmla="*/ 0 h 641023"/>
                <a:gd name="connsiteX2" fmla="*/ 898574 w 898574"/>
                <a:gd name="connsiteY2" fmla="*/ 171911 h 641023"/>
                <a:gd name="connsiteX3" fmla="*/ 898574 w 898574"/>
                <a:gd name="connsiteY3" fmla="*/ 641023 h 641023"/>
                <a:gd name="connsiteX4" fmla="*/ 828427 w 898574"/>
                <a:gd name="connsiteY4" fmla="*/ 637481 h 641023"/>
                <a:gd name="connsiteX5" fmla="*/ 12567 w 898574"/>
                <a:gd name="connsiteY5" fmla="*/ 34337 h 641023"/>
                <a:gd name="connsiteX6" fmla="*/ 0 w 898574"/>
                <a:gd name="connsiteY6" fmla="*/ 0 h 64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8574" h="641023">
                  <a:moveTo>
                    <a:pt x="0" y="0"/>
                  </a:moveTo>
                  <a:lnTo>
                    <a:pt x="726663" y="0"/>
                  </a:lnTo>
                  <a:cubicBezTo>
                    <a:pt x="821607" y="0"/>
                    <a:pt x="898574" y="76967"/>
                    <a:pt x="898574" y="171911"/>
                  </a:cubicBezTo>
                  <a:lnTo>
                    <a:pt x="898574" y="641023"/>
                  </a:lnTo>
                  <a:lnTo>
                    <a:pt x="828427" y="637481"/>
                  </a:lnTo>
                  <a:cubicBezTo>
                    <a:pt x="460135" y="600079"/>
                    <a:pt x="151163" y="362012"/>
                    <a:pt x="12567" y="34337"/>
                  </a:cubicBezTo>
                  <a:lnTo>
                    <a:pt x="0" y="0"/>
                  </a:lnTo>
                  <a:close/>
                </a:path>
              </a:pathLst>
            </a:custGeom>
            <a:gradFill>
              <a:gsLst>
                <a:gs pos="14000">
                  <a:schemeClr val="bg1">
                    <a:lumMod val="95000"/>
                    <a:alpha val="0"/>
                  </a:schemeClr>
                </a:gs>
                <a:gs pos="59000">
                  <a:schemeClr val="bg1">
                    <a:lumMod val="85000"/>
                    <a:alpha val="43000"/>
                  </a:schemeClr>
                </a:gs>
                <a:gs pos="82000">
                  <a:schemeClr val="bg1">
                    <a:lumMod val="85000"/>
                    <a:alpha val="72000"/>
                  </a:schemeClr>
                </a:gs>
                <a:gs pos="100000">
                  <a:schemeClr val="bg1">
                    <a:lumMod val="8500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Arial" panose="020B0604020202020204" pitchFamily="34" charset="0"/>
                <a:ea typeface="Arial" panose="020B0604020202020204" pitchFamily="34" charset="0"/>
                <a:sym typeface="Arial" panose="020B0604020202020204" pitchFamily="34" charset="0"/>
              </a:endParaRPr>
            </a:p>
          </p:txBody>
        </p:sp>
      </p:grpSp>
      <p:sp>
        <p:nvSpPr>
          <p:cNvPr id="98" name="文本框 97"/>
          <p:cNvSpPr txBox="1"/>
          <p:nvPr/>
        </p:nvSpPr>
        <p:spPr>
          <a:xfrm>
            <a:off x="1175385" y="4757420"/>
            <a:ext cx="4956810" cy="1939925"/>
          </a:xfrm>
          <a:prstGeom prst="rect">
            <a:avLst/>
          </a:prstGeom>
          <a:noFill/>
          <a:ln w="1905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t" anchorCtr="0">
            <a:noAutofit/>
          </a:bodyPr>
          <a:p>
            <a:pPr indent="0" algn="l">
              <a:lnSpc>
                <a:spcPct val="150000"/>
              </a:lnSpc>
              <a:buClr>
                <a:srgbClr val="FF9001"/>
              </a:buClr>
              <a:buFont typeface="Wingdings" panose="05000000000000000000" pitchFamily="2" charset="2"/>
              <a:buNone/>
              <a:defRPr sz="1400"/>
            </a:pPr>
            <a:r>
              <a:rPr sz="1200" dirty="0" smtClean="0">
                <a:solidFill>
                  <a:schemeClr val="tx1"/>
                </a:solidFill>
                <a:latin typeface="Arial" panose="020B0604020202020204" pitchFamily="34" charset="0"/>
                <a:ea typeface="Arial" panose="020B0604020202020204" pitchFamily="34" charset="0"/>
              </a:rPr>
              <a:t>maple </a:t>
            </a:r>
            <a:endParaRPr sz="1200" dirty="0" smtClean="0">
              <a:solidFill>
                <a:schemeClr val="tx1"/>
              </a:solidFill>
              <a:latin typeface="Arial" panose="020B0604020202020204" pitchFamily="34" charset="0"/>
              <a:ea typeface="Arial" panose="020B0604020202020204" pitchFamily="34" charset="0"/>
            </a:endParaRPr>
          </a:p>
          <a:p>
            <a:pPr indent="0" algn="l">
              <a:lnSpc>
                <a:spcPct val="150000"/>
              </a:lnSpc>
              <a:buClr>
                <a:srgbClr val="FF9001"/>
              </a:buClr>
              <a:buFont typeface="Wingdings" panose="05000000000000000000" pitchFamily="2" charset="2"/>
              <a:buNone/>
              <a:defRPr sz="1400"/>
            </a:pPr>
            <a:r>
              <a:rPr sz="1200" dirty="0" smtClean="0">
                <a:solidFill>
                  <a:schemeClr val="tx1"/>
                </a:solidFill>
                <a:latin typeface="Arial" panose="020B0604020202020204" pitchFamily="34" charset="0"/>
                <a:ea typeface="Arial" panose="020B0604020202020204" pitchFamily="34" charset="0"/>
              </a:rPr>
              <a:t>一个去中心化的信用贷款解决方案，为机构借款人提供</a:t>
            </a:r>
            <a:r>
              <a:rPr sz="1200" b="1" dirty="0" smtClean="0">
                <a:solidFill>
                  <a:schemeClr val="tx1"/>
                </a:solidFill>
                <a:latin typeface="Arial" panose="020B0604020202020204" pitchFamily="34" charset="0"/>
                <a:ea typeface="Arial" panose="020B0604020202020204" pitchFamily="34" charset="0"/>
              </a:rPr>
              <a:t>无抵押借款</a:t>
            </a:r>
            <a:r>
              <a:rPr sz="1200" dirty="0" smtClean="0">
                <a:solidFill>
                  <a:schemeClr val="tx1"/>
                </a:solidFill>
                <a:latin typeface="Arial" panose="020B0604020202020204" pitchFamily="34" charset="0"/>
                <a:ea typeface="Arial" panose="020B0604020202020204" pitchFamily="34" charset="0"/>
              </a:rPr>
              <a:t>，强调信用评估并通过智能合约和区块链技术消除中间人和自动化处理交易，大大降低了交易和运营成本，提高了交易效率，为企业提供快速融资，同时为出借方提供高收益的投资机会，目前已发放贷款45.2亿美元, 服务85个机构借款人</a:t>
            </a:r>
            <a:r>
              <a:rPr lang="zh-CN" altLang="en-US" sz="1200">
                <a:solidFill>
                  <a:schemeClr val="tx2">
                    <a:lumMod val="75000"/>
                  </a:schemeClr>
                </a:solidFill>
                <a:latin typeface="Arial" panose="020B0604020202020204" pitchFamily="34" charset="0"/>
                <a:cs typeface="Arial" panose="020B0604020202020204" pitchFamily="34" charset="0"/>
                <a:sym typeface="+mn-ea"/>
              </a:rPr>
              <a:t>。</a:t>
            </a:r>
            <a:endParaRPr sz="1200" dirty="0" smtClean="0">
              <a:solidFill>
                <a:schemeClr val="tx1"/>
              </a:solidFill>
              <a:latin typeface="Arial" panose="020B0604020202020204" pitchFamily="34" charset="0"/>
              <a:ea typeface="Arial" panose="020B0604020202020204" pitchFamily="34" charset="0"/>
            </a:endParaRPr>
          </a:p>
        </p:txBody>
      </p:sp>
      <p:grpSp>
        <p:nvGrpSpPr>
          <p:cNvPr id="20" name="组合 19"/>
          <p:cNvGrpSpPr/>
          <p:nvPr/>
        </p:nvGrpSpPr>
        <p:grpSpPr>
          <a:xfrm>
            <a:off x="6442075" y="4396740"/>
            <a:ext cx="4791710" cy="2199005"/>
            <a:chOff x="1291" y="1634"/>
            <a:chExt cx="3091" cy="809"/>
          </a:xfrm>
        </p:grpSpPr>
        <p:sp>
          <p:nvSpPr>
            <p:cNvPr id="21" name="矩形: 圆角 1"/>
            <p:cNvSpPr/>
            <p:nvPr/>
          </p:nvSpPr>
          <p:spPr>
            <a:xfrm>
              <a:off x="1291" y="1634"/>
              <a:ext cx="3091" cy="809"/>
            </a:xfrm>
            <a:prstGeom prst="roundRect">
              <a:avLst>
                <a:gd name="adj" fmla="val 1131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solidFill>
                  <a:schemeClr val="bg1"/>
                </a:solidFill>
                <a:latin typeface="Arial" panose="020B0604020202020204" pitchFamily="34" charset="0"/>
                <a:ea typeface="Arial" panose="020B0604020202020204" pitchFamily="34" charset="0"/>
                <a:sym typeface="Arial" panose="020B0604020202020204" pitchFamily="34" charset="0"/>
              </a:endParaRPr>
            </a:p>
          </p:txBody>
        </p:sp>
        <p:sp>
          <p:nvSpPr>
            <p:cNvPr id="22" name="任意多边形: 形状 46"/>
            <p:cNvSpPr/>
            <p:nvPr/>
          </p:nvSpPr>
          <p:spPr>
            <a:xfrm>
              <a:off x="3727" y="1635"/>
              <a:ext cx="655" cy="244"/>
            </a:xfrm>
            <a:custGeom>
              <a:avLst/>
              <a:gdLst>
                <a:gd name="connsiteX0" fmla="*/ 0 w 898574"/>
                <a:gd name="connsiteY0" fmla="*/ 0 h 641023"/>
                <a:gd name="connsiteX1" fmla="*/ 726663 w 898574"/>
                <a:gd name="connsiteY1" fmla="*/ 0 h 641023"/>
                <a:gd name="connsiteX2" fmla="*/ 898574 w 898574"/>
                <a:gd name="connsiteY2" fmla="*/ 171911 h 641023"/>
                <a:gd name="connsiteX3" fmla="*/ 898574 w 898574"/>
                <a:gd name="connsiteY3" fmla="*/ 641023 h 641023"/>
                <a:gd name="connsiteX4" fmla="*/ 828427 w 898574"/>
                <a:gd name="connsiteY4" fmla="*/ 637481 h 641023"/>
                <a:gd name="connsiteX5" fmla="*/ 12567 w 898574"/>
                <a:gd name="connsiteY5" fmla="*/ 34337 h 641023"/>
                <a:gd name="connsiteX6" fmla="*/ 0 w 898574"/>
                <a:gd name="connsiteY6" fmla="*/ 0 h 64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8574" h="641023">
                  <a:moveTo>
                    <a:pt x="0" y="0"/>
                  </a:moveTo>
                  <a:lnTo>
                    <a:pt x="726663" y="0"/>
                  </a:lnTo>
                  <a:cubicBezTo>
                    <a:pt x="821607" y="0"/>
                    <a:pt x="898574" y="76967"/>
                    <a:pt x="898574" y="171911"/>
                  </a:cubicBezTo>
                  <a:lnTo>
                    <a:pt x="898574" y="641023"/>
                  </a:lnTo>
                  <a:lnTo>
                    <a:pt x="828427" y="637481"/>
                  </a:lnTo>
                  <a:cubicBezTo>
                    <a:pt x="460135" y="600079"/>
                    <a:pt x="151163" y="362012"/>
                    <a:pt x="12567" y="34337"/>
                  </a:cubicBezTo>
                  <a:lnTo>
                    <a:pt x="0" y="0"/>
                  </a:lnTo>
                  <a:close/>
                </a:path>
              </a:pathLst>
            </a:custGeom>
            <a:gradFill>
              <a:gsLst>
                <a:gs pos="14000">
                  <a:schemeClr val="bg1">
                    <a:lumMod val="95000"/>
                    <a:alpha val="0"/>
                  </a:schemeClr>
                </a:gs>
                <a:gs pos="59000">
                  <a:schemeClr val="bg1">
                    <a:lumMod val="85000"/>
                    <a:alpha val="43000"/>
                  </a:schemeClr>
                </a:gs>
                <a:gs pos="82000">
                  <a:schemeClr val="bg1">
                    <a:lumMod val="85000"/>
                    <a:alpha val="72000"/>
                  </a:schemeClr>
                </a:gs>
                <a:gs pos="100000">
                  <a:schemeClr val="bg1">
                    <a:lumMod val="8500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Arial" panose="020B0604020202020204" pitchFamily="34" charset="0"/>
                <a:ea typeface="Arial" panose="020B0604020202020204" pitchFamily="34" charset="0"/>
                <a:sym typeface="Arial" panose="020B0604020202020204" pitchFamily="34" charset="0"/>
              </a:endParaRPr>
            </a:p>
          </p:txBody>
        </p:sp>
      </p:grpSp>
      <p:sp>
        <p:nvSpPr>
          <p:cNvPr id="23" name="文本框 22"/>
          <p:cNvSpPr txBox="1"/>
          <p:nvPr/>
        </p:nvSpPr>
        <p:spPr>
          <a:xfrm>
            <a:off x="6640195" y="4427220"/>
            <a:ext cx="4409440" cy="1939925"/>
          </a:xfrm>
          <a:prstGeom prst="rect">
            <a:avLst/>
          </a:prstGeom>
          <a:noFill/>
          <a:ln w="1905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t" anchorCtr="0">
            <a:noAutofit/>
          </a:bodyPr>
          <a:p>
            <a:pPr indent="0" algn="l">
              <a:lnSpc>
                <a:spcPct val="150000"/>
              </a:lnSpc>
              <a:buClr>
                <a:srgbClr val="FF9001"/>
              </a:buClr>
              <a:buFont typeface="Wingdings" panose="05000000000000000000" pitchFamily="2" charset="2"/>
              <a:buNone/>
              <a:defRPr sz="1400"/>
            </a:pPr>
            <a:r>
              <a:rPr sz="1200" dirty="0" smtClean="0">
                <a:solidFill>
                  <a:schemeClr val="tx1"/>
                </a:solidFill>
                <a:latin typeface="Arial" panose="020B0604020202020204" pitchFamily="34" charset="0"/>
                <a:ea typeface="Arial" panose="020B0604020202020204" pitchFamily="34" charset="0"/>
              </a:rPr>
              <a:t>Ondo</a:t>
            </a:r>
            <a:endParaRPr sz="1200" dirty="0" smtClean="0">
              <a:solidFill>
                <a:schemeClr val="tx1"/>
              </a:solidFill>
              <a:latin typeface="Arial" panose="020B0604020202020204" pitchFamily="34" charset="0"/>
              <a:ea typeface="Arial" panose="020B0604020202020204" pitchFamily="34" charset="0"/>
            </a:endParaRPr>
          </a:p>
          <a:p>
            <a:pPr indent="0" algn="l">
              <a:lnSpc>
                <a:spcPct val="150000"/>
              </a:lnSpc>
              <a:buClr>
                <a:srgbClr val="FF9001"/>
              </a:buClr>
              <a:buFont typeface="Wingdings" panose="05000000000000000000" pitchFamily="2" charset="2"/>
              <a:buNone/>
              <a:defRPr sz="1400"/>
            </a:pPr>
            <a:r>
              <a:rPr sz="1200" dirty="0" smtClean="0">
                <a:solidFill>
                  <a:schemeClr val="tx1"/>
                </a:solidFill>
                <a:latin typeface="Arial" panose="020B0604020202020204" pitchFamily="34" charset="0"/>
                <a:ea typeface="Arial" panose="020B0604020202020204" pitchFamily="34" charset="0"/>
              </a:rPr>
              <a:t>一个去中心化的机构级金融协议，由Ondo Finance与BlackRock的合作推出了</a:t>
            </a:r>
            <a:r>
              <a:rPr sz="1200" b="1" dirty="0" smtClean="0">
                <a:solidFill>
                  <a:schemeClr val="tx1"/>
                </a:solidFill>
                <a:latin typeface="Arial" panose="020B0604020202020204" pitchFamily="34" charset="0"/>
                <a:ea typeface="Arial" panose="020B0604020202020204" pitchFamily="34" charset="0"/>
              </a:rPr>
              <a:t>美国国债、货币市场基金等代币化</a:t>
            </a:r>
            <a:r>
              <a:rPr sz="1200" dirty="0" smtClean="0">
                <a:solidFill>
                  <a:schemeClr val="tx1"/>
                </a:solidFill>
                <a:latin typeface="Arial" panose="020B0604020202020204" pitchFamily="34" charset="0"/>
                <a:ea typeface="Arial" panose="020B0604020202020204" pitchFamily="34" charset="0"/>
              </a:rPr>
              <a:t>项目</a:t>
            </a:r>
            <a:r>
              <a:rPr lang="zh-CN" altLang="en-US" sz="1200">
                <a:solidFill>
                  <a:schemeClr val="tx2">
                    <a:lumMod val="75000"/>
                  </a:schemeClr>
                </a:solidFill>
                <a:latin typeface="Arial" panose="020B0604020202020204" pitchFamily="34" charset="0"/>
                <a:cs typeface="Arial" panose="020B0604020202020204" pitchFamily="34" charset="0"/>
                <a:sym typeface="+mn-ea"/>
              </a:rPr>
              <a:t>。</a:t>
            </a:r>
            <a:endParaRPr sz="1200" dirty="0" smtClean="0">
              <a:solidFill>
                <a:schemeClr val="tx1"/>
              </a:solidFill>
              <a:latin typeface="Arial" panose="020B0604020202020204" pitchFamily="34" charset="0"/>
              <a:ea typeface="Arial" panose="020B0604020202020204" pitchFamily="34" charset="0"/>
            </a:endParaRPr>
          </a:p>
          <a:p>
            <a:pPr indent="0" algn="l">
              <a:lnSpc>
                <a:spcPct val="150000"/>
              </a:lnSpc>
              <a:buClr>
                <a:srgbClr val="FF9001"/>
              </a:buClr>
              <a:buFont typeface="Wingdings" panose="05000000000000000000" pitchFamily="2" charset="2"/>
              <a:buNone/>
              <a:defRPr sz="1400"/>
            </a:pPr>
            <a:r>
              <a:rPr sz="1200" dirty="0" smtClean="0">
                <a:solidFill>
                  <a:schemeClr val="tx1"/>
                </a:solidFill>
                <a:latin typeface="Arial" panose="020B0604020202020204" pitchFamily="34" charset="0"/>
                <a:ea typeface="Arial" panose="020B0604020202020204" pitchFamily="34" charset="0"/>
              </a:rPr>
              <a:t>底层资产有来自于贝莱德旗下的短期美债 ETF、银行存款支持的代币化票据、美国政府货币市场基金（MMF）</a:t>
            </a:r>
            <a:r>
              <a:rPr lang="zh-CN" altLang="en-US" sz="1200">
                <a:solidFill>
                  <a:schemeClr val="tx2">
                    <a:lumMod val="75000"/>
                  </a:schemeClr>
                </a:solidFill>
                <a:latin typeface="Arial" panose="020B0604020202020204" pitchFamily="34" charset="0"/>
                <a:cs typeface="Arial" panose="020B0604020202020204" pitchFamily="34" charset="0"/>
                <a:sym typeface="+mn-ea"/>
              </a:rPr>
              <a:t>。</a:t>
            </a:r>
            <a:endParaRPr sz="1200" dirty="0" smtClean="0">
              <a:solidFill>
                <a:schemeClr val="tx1"/>
              </a:solidFill>
              <a:latin typeface="Arial" panose="020B0604020202020204" pitchFamily="34" charset="0"/>
              <a:ea typeface="Arial" panose="020B0604020202020204" pitchFamily="34" charset="0"/>
            </a:endParaRPr>
          </a:p>
          <a:p>
            <a:pPr indent="0" algn="l">
              <a:lnSpc>
                <a:spcPct val="150000"/>
              </a:lnSpc>
              <a:buClr>
                <a:srgbClr val="FF9001"/>
              </a:buClr>
              <a:buFont typeface="Wingdings" panose="05000000000000000000" pitchFamily="2" charset="2"/>
              <a:buNone/>
              <a:defRPr sz="1400"/>
            </a:pPr>
            <a:r>
              <a:rPr sz="1200" dirty="0" smtClean="0">
                <a:solidFill>
                  <a:schemeClr val="tx1"/>
                </a:solidFill>
                <a:latin typeface="Arial" panose="020B0604020202020204" pitchFamily="34" charset="0"/>
                <a:ea typeface="Arial" panose="020B0604020202020204" pitchFamily="34" charset="0"/>
              </a:rPr>
              <a:t>目前代币化美国国债市值达21.9亿美金，相比2023年同期的5.76亿，增长了384%</a:t>
            </a:r>
            <a:r>
              <a:rPr lang="zh-CN" altLang="en-US" sz="1200">
                <a:solidFill>
                  <a:schemeClr val="tx2">
                    <a:lumMod val="75000"/>
                  </a:schemeClr>
                </a:solidFill>
                <a:latin typeface="Arial" panose="020B0604020202020204" pitchFamily="34" charset="0"/>
                <a:cs typeface="Arial" panose="020B0604020202020204" pitchFamily="34" charset="0"/>
                <a:sym typeface="+mn-ea"/>
              </a:rPr>
              <a:t>。</a:t>
            </a:r>
            <a:endParaRPr sz="1200" dirty="0" smtClean="0">
              <a:solidFill>
                <a:schemeClr val="tx1"/>
              </a:solidFill>
              <a:latin typeface="Arial" panose="020B0604020202020204" pitchFamily="34" charset="0"/>
              <a:ea typeface="Arial" panose="020B0604020202020204" pitchFamily="34" charset="0"/>
            </a:endParaRPr>
          </a:p>
        </p:txBody>
      </p:sp>
      <p:pic>
        <p:nvPicPr>
          <p:cNvPr id="24" name="图片 23"/>
          <p:cNvPicPr>
            <a:picLocks noChangeAspect="1"/>
          </p:cNvPicPr>
          <p:nvPr/>
        </p:nvPicPr>
        <p:blipFill>
          <a:blip r:embed="rId1"/>
          <a:stretch>
            <a:fillRect/>
          </a:stretch>
        </p:blipFill>
        <p:spPr>
          <a:xfrm>
            <a:off x="930275" y="2169795"/>
            <a:ext cx="5279390" cy="2462530"/>
          </a:xfrm>
          <a:prstGeom prst="rect">
            <a:avLst/>
          </a:prstGeom>
        </p:spPr>
      </p:pic>
      <p:grpSp>
        <p:nvGrpSpPr>
          <p:cNvPr id="26" name="组合 25"/>
          <p:cNvGrpSpPr/>
          <p:nvPr/>
        </p:nvGrpSpPr>
        <p:grpSpPr>
          <a:xfrm>
            <a:off x="6441440" y="2014220"/>
            <a:ext cx="4792980" cy="2245995"/>
            <a:chOff x="1291" y="1634"/>
            <a:chExt cx="3091" cy="809"/>
          </a:xfrm>
        </p:grpSpPr>
        <p:sp>
          <p:nvSpPr>
            <p:cNvPr id="27" name="矩形: 圆角 1"/>
            <p:cNvSpPr/>
            <p:nvPr/>
          </p:nvSpPr>
          <p:spPr>
            <a:xfrm>
              <a:off x="1291" y="1634"/>
              <a:ext cx="3091" cy="809"/>
            </a:xfrm>
            <a:prstGeom prst="roundRect">
              <a:avLst>
                <a:gd name="adj" fmla="val 1131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solidFill>
                  <a:schemeClr val="bg1"/>
                </a:solidFill>
                <a:latin typeface="Arial" panose="020B0604020202020204" pitchFamily="34" charset="0"/>
                <a:ea typeface="Arial" panose="020B0604020202020204" pitchFamily="34" charset="0"/>
                <a:sym typeface="Arial" panose="020B0604020202020204" pitchFamily="34" charset="0"/>
              </a:endParaRPr>
            </a:p>
          </p:txBody>
        </p:sp>
        <p:sp>
          <p:nvSpPr>
            <p:cNvPr id="28" name="任意多边形: 形状 46"/>
            <p:cNvSpPr/>
            <p:nvPr/>
          </p:nvSpPr>
          <p:spPr>
            <a:xfrm>
              <a:off x="3727" y="1635"/>
              <a:ext cx="655" cy="244"/>
            </a:xfrm>
            <a:custGeom>
              <a:avLst/>
              <a:gdLst>
                <a:gd name="connsiteX0" fmla="*/ 0 w 898574"/>
                <a:gd name="connsiteY0" fmla="*/ 0 h 641023"/>
                <a:gd name="connsiteX1" fmla="*/ 726663 w 898574"/>
                <a:gd name="connsiteY1" fmla="*/ 0 h 641023"/>
                <a:gd name="connsiteX2" fmla="*/ 898574 w 898574"/>
                <a:gd name="connsiteY2" fmla="*/ 171911 h 641023"/>
                <a:gd name="connsiteX3" fmla="*/ 898574 w 898574"/>
                <a:gd name="connsiteY3" fmla="*/ 641023 h 641023"/>
                <a:gd name="connsiteX4" fmla="*/ 828427 w 898574"/>
                <a:gd name="connsiteY4" fmla="*/ 637481 h 641023"/>
                <a:gd name="connsiteX5" fmla="*/ 12567 w 898574"/>
                <a:gd name="connsiteY5" fmla="*/ 34337 h 641023"/>
                <a:gd name="connsiteX6" fmla="*/ 0 w 898574"/>
                <a:gd name="connsiteY6" fmla="*/ 0 h 64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8574" h="641023">
                  <a:moveTo>
                    <a:pt x="0" y="0"/>
                  </a:moveTo>
                  <a:lnTo>
                    <a:pt x="726663" y="0"/>
                  </a:lnTo>
                  <a:cubicBezTo>
                    <a:pt x="821607" y="0"/>
                    <a:pt x="898574" y="76967"/>
                    <a:pt x="898574" y="171911"/>
                  </a:cubicBezTo>
                  <a:lnTo>
                    <a:pt x="898574" y="641023"/>
                  </a:lnTo>
                  <a:lnTo>
                    <a:pt x="828427" y="637481"/>
                  </a:lnTo>
                  <a:cubicBezTo>
                    <a:pt x="460135" y="600079"/>
                    <a:pt x="151163" y="362012"/>
                    <a:pt x="12567" y="34337"/>
                  </a:cubicBezTo>
                  <a:lnTo>
                    <a:pt x="0" y="0"/>
                  </a:lnTo>
                  <a:close/>
                </a:path>
              </a:pathLst>
            </a:custGeom>
            <a:gradFill>
              <a:gsLst>
                <a:gs pos="14000">
                  <a:schemeClr val="bg1">
                    <a:lumMod val="95000"/>
                    <a:alpha val="0"/>
                  </a:schemeClr>
                </a:gs>
                <a:gs pos="59000">
                  <a:schemeClr val="bg1">
                    <a:lumMod val="85000"/>
                    <a:alpha val="43000"/>
                  </a:schemeClr>
                </a:gs>
                <a:gs pos="82000">
                  <a:schemeClr val="bg1">
                    <a:lumMod val="85000"/>
                    <a:alpha val="72000"/>
                  </a:schemeClr>
                </a:gs>
                <a:gs pos="100000">
                  <a:schemeClr val="bg1">
                    <a:lumMod val="8500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Arial" panose="020B0604020202020204" pitchFamily="34" charset="0"/>
                <a:ea typeface="Arial" panose="020B0604020202020204" pitchFamily="34" charset="0"/>
                <a:sym typeface="Arial" panose="020B0604020202020204" pitchFamily="34" charset="0"/>
              </a:endParaRPr>
            </a:p>
          </p:txBody>
        </p:sp>
      </p:grpSp>
      <p:sp>
        <p:nvSpPr>
          <p:cNvPr id="29" name="文本框 28"/>
          <p:cNvSpPr txBox="1"/>
          <p:nvPr/>
        </p:nvSpPr>
        <p:spPr>
          <a:xfrm>
            <a:off x="6640195" y="2072640"/>
            <a:ext cx="4408170" cy="2130425"/>
          </a:xfrm>
          <a:prstGeom prst="rect">
            <a:avLst/>
          </a:prstGeom>
          <a:noFill/>
          <a:ln w="1905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t" anchorCtr="0">
            <a:noAutofit/>
          </a:bodyPr>
          <a:p>
            <a:pPr indent="0" algn="l">
              <a:lnSpc>
                <a:spcPct val="150000"/>
              </a:lnSpc>
              <a:buClr>
                <a:srgbClr val="FF9001"/>
              </a:buClr>
              <a:buFont typeface="Wingdings" panose="05000000000000000000" pitchFamily="2" charset="2"/>
              <a:buNone/>
              <a:defRPr sz="1400"/>
            </a:pPr>
            <a:r>
              <a:rPr lang="en-US" sz="1200" dirty="0" smtClean="0">
                <a:solidFill>
                  <a:schemeClr val="tx1"/>
                </a:solidFill>
                <a:latin typeface="Arial" panose="020B0604020202020204" pitchFamily="34" charset="0"/>
                <a:ea typeface="Arial" panose="020B0604020202020204" pitchFamily="34" charset="0"/>
              </a:rPr>
              <a:t>C</a:t>
            </a:r>
            <a:r>
              <a:rPr sz="1200" dirty="0" smtClean="0">
                <a:solidFill>
                  <a:schemeClr val="tx1"/>
                </a:solidFill>
                <a:latin typeface="Arial" panose="020B0604020202020204" pitchFamily="34" charset="0"/>
                <a:ea typeface="Arial" panose="020B0604020202020204" pitchFamily="34" charset="0"/>
              </a:rPr>
              <a:t>entrifuge</a:t>
            </a:r>
            <a:endParaRPr sz="1200" dirty="0" smtClean="0">
              <a:solidFill>
                <a:schemeClr val="tx1"/>
              </a:solidFill>
              <a:latin typeface="Arial" panose="020B0604020202020204" pitchFamily="34" charset="0"/>
              <a:ea typeface="Arial" panose="020B0604020202020204" pitchFamily="34" charset="0"/>
            </a:endParaRPr>
          </a:p>
          <a:p>
            <a:pPr indent="0" algn="l">
              <a:lnSpc>
                <a:spcPct val="150000"/>
              </a:lnSpc>
              <a:buClr>
                <a:srgbClr val="FF9001"/>
              </a:buClr>
              <a:buFont typeface="Wingdings" panose="05000000000000000000" pitchFamily="2" charset="2"/>
              <a:buNone/>
              <a:defRPr sz="1400"/>
            </a:pPr>
            <a:r>
              <a:rPr lang="zh-CN" sz="1200" dirty="0" smtClean="0">
                <a:solidFill>
                  <a:schemeClr val="tx1"/>
                </a:solidFill>
                <a:latin typeface="Arial" panose="020B0604020202020204" pitchFamily="34" charset="0"/>
                <a:ea typeface="Arial" panose="020B0604020202020204" pitchFamily="34" charset="0"/>
              </a:rPr>
              <a:t>一个</a:t>
            </a:r>
            <a:r>
              <a:rPr sz="1200" dirty="0" smtClean="0">
                <a:solidFill>
                  <a:schemeClr val="tx1"/>
                </a:solidFill>
                <a:latin typeface="Arial" panose="020B0604020202020204" pitchFamily="34" charset="0"/>
                <a:ea typeface="Arial" panose="020B0604020202020204" pitchFamily="34" charset="0"/>
              </a:rPr>
              <a:t>中心化资产融资协议</a:t>
            </a:r>
            <a:r>
              <a:rPr sz="1200" dirty="0" smtClean="0">
                <a:latin typeface="Arial" panose="020B0604020202020204" pitchFamily="34" charset="0"/>
                <a:ea typeface="Arial" panose="020B0604020202020204" pitchFamily="34" charset="0"/>
                <a:sym typeface="+mn-ea"/>
              </a:rPr>
              <a:t>，</a:t>
            </a:r>
            <a:r>
              <a:rPr sz="1200" dirty="0" smtClean="0">
                <a:solidFill>
                  <a:schemeClr val="tx1"/>
                </a:solidFill>
                <a:latin typeface="Arial" panose="020B0604020202020204" pitchFamily="34" charset="0"/>
                <a:ea typeface="Arial" panose="020B0604020202020204" pitchFamily="34" charset="0"/>
              </a:rPr>
              <a:t>将</a:t>
            </a:r>
            <a:r>
              <a:rPr sz="1200" b="1" dirty="0" smtClean="0">
                <a:solidFill>
                  <a:schemeClr val="tx1"/>
                </a:solidFill>
                <a:latin typeface="Arial" panose="020B0604020202020204" pitchFamily="34" charset="0"/>
                <a:ea typeface="Arial" panose="020B0604020202020204" pitchFamily="34" charset="0"/>
              </a:rPr>
              <a:t>现实世界资产通过NFT发行</a:t>
            </a:r>
            <a:r>
              <a:rPr lang="zh-CN" sz="1200" b="1" dirty="0" smtClean="0">
                <a:solidFill>
                  <a:schemeClr val="tx1"/>
                </a:solidFill>
                <a:latin typeface="Arial" panose="020B0604020202020204" pitchFamily="34" charset="0"/>
                <a:ea typeface="Arial" panose="020B0604020202020204" pitchFamily="34" charset="0"/>
              </a:rPr>
              <a:t>并代币化</a:t>
            </a:r>
            <a:r>
              <a:rPr sz="1200" dirty="0" smtClean="0">
                <a:solidFill>
                  <a:schemeClr val="tx1"/>
                </a:solidFill>
                <a:latin typeface="Arial" panose="020B0604020202020204" pitchFamily="34" charset="0"/>
                <a:ea typeface="Arial" panose="020B0604020202020204" pitchFamily="34" charset="0"/>
              </a:rPr>
              <a:t>，通过链上市场撮合资产方和资金方企业，避开银行和其他中心化中介机构，简化融资流程，降低融资成本，满足中小型企业需求。底层资产涉及船运发票、金融科技公司的预付款（Payment Advance）、库存融资、商业地产、消费贷款、应收账款、结构化信贷等</a:t>
            </a:r>
            <a:r>
              <a:rPr lang="zh-CN" altLang="en-US" sz="1200">
                <a:solidFill>
                  <a:schemeClr val="tx2">
                    <a:lumMod val="75000"/>
                  </a:schemeClr>
                </a:solidFill>
                <a:latin typeface="Arial" panose="020B0604020202020204" pitchFamily="34" charset="0"/>
                <a:cs typeface="Arial" panose="020B0604020202020204" pitchFamily="34" charset="0"/>
                <a:sym typeface="+mn-ea"/>
              </a:rPr>
              <a:t>。</a:t>
            </a:r>
            <a:endParaRPr sz="1200" dirty="0" smtClean="0">
              <a:solidFill>
                <a:schemeClr val="tx1"/>
              </a:solidFill>
              <a:latin typeface="Arial" panose="020B0604020202020204" pitchFamily="34" charset="0"/>
              <a:ea typeface="Arial" panose="020B0604020202020204" pitchFamily="34" charset="0"/>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930275" y="176530"/>
            <a:ext cx="5097145" cy="375920"/>
          </a:xfrm>
        </p:spPr>
        <p:txBody>
          <a:bodyPr>
            <a:noAutofit/>
          </a:bodyPr>
          <a:lstStyle/>
          <a:p>
            <a:pPr algn="l">
              <a:buSzTx/>
            </a:pPr>
            <a:r>
              <a:rPr lang="en-US" sz="2700" dirty="0">
                <a:latin typeface="+mj-ea"/>
                <a:ea typeface="+mj-ea"/>
                <a:cs typeface="+mn-ea"/>
                <a:sym typeface="+mn-lt"/>
              </a:rPr>
              <a:t>M</a:t>
            </a:r>
            <a:r>
              <a:rPr lang="en-US" sz="2700" dirty="0">
                <a:latin typeface="+mj-ea"/>
                <a:ea typeface="+mj-ea"/>
                <a:cs typeface="+mn-ea"/>
                <a:sym typeface="+mn-lt"/>
              </a:rPr>
              <a:t>ANTRA Chain</a:t>
            </a:r>
            <a:endParaRPr lang="zh-CN" altLang="en-US" sz="2700" dirty="0">
              <a:latin typeface="+mj-ea"/>
              <a:ea typeface="+mj-ea"/>
              <a:cs typeface="+mn-ea"/>
              <a:sym typeface="+mn-lt"/>
            </a:endParaRPr>
          </a:p>
        </p:txBody>
      </p:sp>
      <p:sp>
        <p:nvSpPr>
          <p:cNvPr id="9" name="矩形 8"/>
          <p:cNvSpPr/>
          <p:nvPr/>
        </p:nvSpPr>
        <p:spPr>
          <a:xfrm rot="16200000">
            <a:off x="6531369" y="-834939"/>
            <a:ext cx="374080" cy="1008418"/>
          </a:xfrm>
          <a:prstGeom prst="rect">
            <a:avLst/>
          </a:prstGeom>
          <a:gradFill flip="none" rotWithShape="1">
            <a:gsLst>
              <a:gs pos="0">
                <a:srgbClr val="FFC000"/>
              </a:gs>
              <a:gs pos="100000">
                <a:srgbClr val="FF9001"/>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20204" pitchFamily="34" charset="0"/>
              <a:cs typeface="Arial" panose="020B0604020202020204" pitchFamily="34" charset="0"/>
            </a:endParaRPr>
          </a:p>
        </p:txBody>
      </p:sp>
      <p:sp>
        <p:nvSpPr>
          <p:cNvPr id="10" name="矩形 9"/>
          <p:cNvSpPr/>
          <p:nvPr/>
        </p:nvSpPr>
        <p:spPr>
          <a:xfrm rot="16200000">
            <a:off x="2287592" y="-836153"/>
            <a:ext cx="374080" cy="1008418"/>
          </a:xfrm>
          <a:prstGeom prst="rect">
            <a:avLst/>
          </a:prstGeom>
          <a:gradFill flip="none" rotWithShape="1">
            <a:gsLst>
              <a:gs pos="0">
                <a:srgbClr val="769BFF"/>
              </a:gs>
              <a:gs pos="100000">
                <a:srgbClr val="2864FF"/>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20204" pitchFamily="34" charset="0"/>
              <a:cs typeface="Arial" panose="020B0604020202020204" pitchFamily="34" charset="0"/>
            </a:endParaRPr>
          </a:p>
        </p:txBody>
      </p:sp>
      <p:sp>
        <p:nvSpPr>
          <p:cNvPr id="11" name="矩形 10"/>
          <p:cNvSpPr/>
          <p:nvPr/>
        </p:nvSpPr>
        <p:spPr>
          <a:xfrm rot="16200000">
            <a:off x="4406966" y="-836153"/>
            <a:ext cx="374080" cy="1008418"/>
          </a:xfrm>
          <a:prstGeom prst="rect">
            <a:avLst/>
          </a:prstGeom>
          <a:solidFill>
            <a:srgbClr val="769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20204" pitchFamily="34" charset="0"/>
              <a:cs typeface="Arial" panose="020B0604020202020204" pitchFamily="34" charset="0"/>
            </a:endParaRPr>
          </a:p>
        </p:txBody>
      </p:sp>
      <p:sp>
        <p:nvSpPr>
          <p:cNvPr id="12" name="矩形 11"/>
          <p:cNvSpPr/>
          <p:nvPr/>
        </p:nvSpPr>
        <p:spPr>
          <a:xfrm rot="16200000">
            <a:off x="3347279" y="-836153"/>
            <a:ext cx="374080" cy="1008418"/>
          </a:xfrm>
          <a:prstGeom prst="rect">
            <a:avLst/>
          </a:prstGeom>
          <a:solidFill>
            <a:srgbClr val="286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20204" pitchFamily="34" charset="0"/>
              <a:cs typeface="Arial" panose="020B0604020202020204" pitchFamily="34" charset="0"/>
            </a:endParaRPr>
          </a:p>
        </p:txBody>
      </p:sp>
      <p:sp>
        <p:nvSpPr>
          <p:cNvPr id="13" name="矩形 12"/>
          <p:cNvSpPr/>
          <p:nvPr/>
        </p:nvSpPr>
        <p:spPr>
          <a:xfrm rot="16200000">
            <a:off x="7591056" y="-834939"/>
            <a:ext cx="374080" cy="1008418"/>
          </a:xfrm>
          <a:prstGeom prst="rect">
            <a:avLst/>
          </a:prstGeom>
          <a:solidFill>
            <a:srgbClr val="FF9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20204" pitchFamily="34" charset="0"/>
              <a:cs typeface="Arial" panose="020B0604020202020204" pitchFamily="34" charset="0"/>
            </a:endParaRPr>
          </a:p>
        </p:txBody>
      </p:sp>
      <p:sp>
        <p:nvSpPr>
          <p:cNvPr id="14" name="矩形 13"/>
          <p:cNvSpPr/>
          <p:nvPr/>
        </p:nvSpPr>
        <p:spPr>
          <a:xfrm rot="16200000">
            <a:off x="8650743" y="-834939"/>
            <a:ext cx="374080" cy="100841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20204" pitchFamily="34" charset="0"/>
              <a:cs typeface="Arial" panose="020B0604020202020204" pitchFamily="34" charset="0"/>
            </a:endParaRPr>
          </a:p>
        </p:txBody>
      </p:sp>
      <p:sp>
        <p:nvSpPr>
          <p:cNvPr id="15" name="矩形 14"/>
          <p:cNvSpPr/>
          <p:nvPr/>
        </p:nvSpPr>
        <p:spPr>
          <a:xfrm rot="16200000">
            <a:off x="5466653" y="-836153"/>
            <a:ext cx="374080" cy="1008418"/>
          </a:xfrm>
          <a:prstGeom prst="rect">
            <a:avLst/>
          </a:prstGeom>
          <a:solidFill>
            <a:srgbClr val="0663FF">
              <a:alpha val="50000"/>
            </a:srgbClr>
          </a:solidFill>
          <a:ln>
            <a:noFill/>
          </a:ln>
          <a:effectLst>
            <a:outerShdw blurRad="469900" sx="102000" sy="102000" algn="ctr" rotWithShape="0">
              <a:srgbClr val="0600F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charset="-122"/>
              <a:ea typeface="微软雅黑" panose="020B0503020204020204" charset="-122"/>
            </a:endParaRPr>
          </a:p>
        </p:txBody>
      </p:sp>
      <p:sp>
        <p:nvSpPr>
          <p:cNvPr id="16" name="矩形 15"/>
          <p:cNvSpPr/>
          <p:nvPr/>
        </p:nvSpPr>
        <p:spPr>
          <a:xfrm rot="16200000">
            <a:off x="9710430" y="-834939"/>
            <a:ext cx="374080" cy="1008418"/>
          </a:xfrm>
          <a:prstGeom prst="rect">
            <a:avLst/>
          </a:prstGeom>
          <a:solidFill>
            <a:srgbClr val="FF9001">
              <a:alpha val="50000"/>
            </a:srgbClr>
          </a:solidFill>
          <a:ln>
            <a:noFill/>
          </a:ln>
          <a:effectLst>
            <a:outerShdw blurRad="469900" sx="102000" sy="102000" algn="ctr" rotWithShape="0">
              <a:srgbClr val="FF9001">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charset="-122"/>
              <a:ea typeface="微软雅黑" panose="020B0503020204020204" charset="-122"/>
            </a:endParaRPr>
          </a:p>
        </p:txBody>
      </p:sp>
      <p:grpSp>
        <p:nvGrpSpPr>
          <p:cNvPr id="3" name="组合 2"/>
          <p:cNvGrpSpPr/>
          <p:nvPr>
            <p:custDataLst>
              <p:tags r:id="rId1"/>
            </p:custDataLst>
          </p:nvPr>
        </p:nvGrpSpPr>
        <p:grpSpPr>
          <a:xfrm>
            <a:off x="688975" y="4889500"/>
            <a:ext cx="10786110" cy="998855"/>
            <a:chOff x="1291" y="1634"/>
            <a:chExt cx="3091" cy="809"/>
          </a:xfrm>
        </p:grpSpPr>
        <p:sp>
          <p:nvSpPr>
            <p:cNvPr id="4" name="矩形: 圆角 1"/>
            <p:cNvSpPr/>
            <p:nvPr>
              <p:custDataLst>
                <p:tags r:id="rId2"/>
              </p:custDataLst>
            </p:nvPr>
          </p:nvSpPr>
          <p:spPr>
            <a:xfrm>
              <a:off x="1291" y="1634"/>
              <a:ext cx="3091" cy="809"/>
            </a:xfrm>
            <a:prstGeom prst="roundRect">
              <a:avLst>
                <a:gd name="adj" fmla="val 1131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solidFill>
                  <a:schemeClr val="bg1"/>
                </a:solidFill>
                <a:latin typeface="Arial" panose="020B0604020202020204" pitchFamily="34" charset="0"/>
                <a:ea typeface="Arial" panose="020B0604020202020204" pitchFamily="34" charset="0"/>
                <a:sym typeface="Arial" panose="020B0604020202020204" pitchFamily="34" charset="0"/>
              </a:endParaRPr>
            </a:p>
          </p:txBody>
        </p:sp>
        <p:sp>
          <p:nvSpPr>
            <p:cNvPr id="5" name="任意多边形: 形状 46"/>
            <p:cNvSpPr/>
            <p:nvPr>
              <p:custDataLst>
                <p:tags r:id="rId3"/>
              </p:custDataLst>
            </p:nvPr>
          </p:nvSpPr>
          <p:spPr>
            <a:xfrm>
              <a:off x="3727" y="1635"/>
              <a:ext cx="655" cy="244"/>
            </a:xfrm>
            <a:custGeom>
              <a:avLst/>
              <a:gdLst>
                <a:gd name="connsiteX0" fmla="*/ 0 w 898574"/>
                <a:gd name="connsiteY0" fmla="*/ 0 h 641023"/>
                <a:gd name="connsiteX1" fmla="*/ 726663 w 898574"/>
                <a:gd name="connsiteY1" fmla="*/ 0 h 641023"/>
                <a:gd name="connsiteX2" fmla="*/ 898574 w 898574"/>
                <a:gd name="connsiteY2" fmla="*/ 171911 h 641023"/>
                <a:gd name="connsiteX3" fmla="*/ 898574 w 898574"/>
                <a:gd name="connsiteY3" fmla="*/ 641023 h 641023"/>
                <a:gd name="connsiteX4" fmla="*/ 828427 w 898574"/>
                <a:gd name="connsiteY4" fmla="*/ 637481 h 641023"/>
                <a:gd name="connsiteX5" fmla="*/ 12567 w 898574"/>
                <a:gd name="connsiteY5" fmla="*/ 34337 h 641023"/>
                <a:gd name="connsiteX6" fmla="*/ 0 w 898574"/>
                <a:gd name="connsiteY6" fmla="*/ 0 h 64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8574" h="641023">
                  <a:moveTo>
                    <a:pt x="0" y="0"/>
                  </a:moveTo>
                  <a:lnTo>
                    <a:pt x="726663" y="0"/>
                  </a:lnTo>
                  <a:cubicBezTo>
                    <a:pt x="821607" y="0"/>
                    <a:pt x="898574" y="76967"/>
                    <a:pt x="898574" y="171911"/>
                  </a:cubicBezTo>
                  <a:lnTo>
                    <a:pt x="898574" y="641023"/>
                  </a:lnTo>
                  <a:lnTo>
                    <a:pt x="828427" y="637481"/>
                  </a:lnTo>
                  <a:cubicBezTo>
                    <a:pt x="460135" y="600079"/>
                    <a:pt x="151163" y="362012"/>
                    <a:pt x="12567" y="34337"/>
                  </a:cubicBezTo>
                  <a:lnTo>
                    <a:pt x="0" y="0"/>
                  </a:lnTo>
                  <a:close/>
                </a:path>
              </a:pathLst>
            </a:custGeom>
            <a:gradFill>
              <a:gsLst>
                <a:gs pos="14000">
                  <a:schemeClr val="bg1">
                    <a:lumMod val="95000"/>
                    <a:alpha val="0"/>
                  </a:schemeClr>
                </a:gs>
                <a:gs pos="59000">
                  <a:schemeClr val="bg1">
                    <a:lumMod val="85000"/>
                    <a:alpha val="43000"/>
                  </a:schemeClr>
                </a:gs>
                <a:gs pos="82000">
                  <a:schemeClr val="bg1">
                    <a:lumMod val="85000"/>
                    <a:alpha val="72000"/>
                  </a:schemeClr>
                </a:gs>
                <a:gs pos="100000">
                  <a:schemeClr val="bg1">
                    <a:lumMod val="8500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Arial" panose="020B0604020202020204" pitchFamily="34" charset="0"/>
                <a:ea typeface="Arial" panose="020B0604020202020204" pitchFamily="34" charset="0"/>
                <a:sym typeface="Arial" panose="020B0604020202020204" pitchFamily="34" charset="0"/>
              </a:endParaRPr>
            </a:p>
          </p:txBody>
        </p:sp>
      </p:grpSp>
      <p:sp>
        <p:nvSpPr>
          <p:cNvPr id="6" name="文本框 5"/>
          <p:cNvSpPr txBox="1"/>
          <p:nvPr>
            <p:custDataLst>
              <p:tags r:id="rId4"/>
            </p:custDataLst>
          </p:nvPr>
        </p:nvSpPr>
        <p:spPr>
          <a:xfrm>
            <a:off x="853440" y="4890135"/>
            <a:ext cx="10485755" cy="997585"/>
          </a:xfrm>
          <a:prstGeom prst="rect">
            <a:avLst/>
          </a:prstGeom>
          <a:noFill/>
          <a:ln w="1905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t" anchorCtr="0">
            <a:noAutofit/>
          </a:bodyPr>
          <a:p>
            <a:pPr indent="0" algn="l">
              <a:lnSpc>
                <a:spcPct val="150000"/>
              </a:lnSpc>
              <a:buClr>
                <a:srgbClr val="FF9001"/>
              </a:buClr>
              <a:buFont typeface="Wingdings" panose="05000000000000000000" pitchFamily="2" charset="2"/>
              <a:buNone/>
              <a:defRPr sz="1400"/>
            </a:pPr>
            <a:r>
              <a:rPr lang="zh-CN" altLang="en-US" sz="1200">
                <a:solidFill>
                  <a:schemeClr val="tx2">
                    <a:lumMod val="75000"/>
                  </a:schemeClr>
                </a:solidFill>
                <a:latin typeface="Arial" panose="020B0604020202020204" pitchFamily="34" charset="0"/>
                <a:cs typeface="Arial" panose="020B0604020202020204" pitchFamily="34" charset="0"/>
                <a:sym typeface="+mn-ea"/>
              </a:rPr>
              <a:t>Mantra Chain </a:t>
            </a:r>
            <a:r>
              <a:rPr sz="1200" dirty="0" smtClean="0">
                <a:latin typeface="Arial" panose="020B0604020202020204" pitchFamily="34" charset="0"/>
                <a:ea typeface="Arial" panose="020B0604020202020204" pitchFamily="34" charset="0"/>
                <a:sym typeface="+mn-ea"/>
              </a:rPr>
              <a:t>在 2024 年 </a:t>
            </a:r>
            <a:r>
              <a:rPr lang="en-US" sz="1200" dirty="0" smtClean="0">
                <a:latin typeface="Arial" panose="020B0604020202020204" pitchFamily="34" charset="0"/>
                <a:ea typeface="Arial" panose="020B0604020202020204" pitchFamily="34" charset="0"/>
                <a:sym typeface="+mn-ea"/>
              </a:rPr>
              <a:t>7</a:t>
            </a:r>
            <a:r>
              <a:rPr sz="1200" dirty="0" smtClean="0">
                <a:latin typeface="Arial" panose="020B0604020202020204" pitchFamily="34" charset="0"/>
                <a:ea typeface="Arial" panose="020B0604020202020204" pitchFamily="34" charset="0"/>
                <a:sym typeface="+mn-ea"/>
              </a:rPr>
              <a:t> 月</a:t>
            </a:r>
            <a:r>
              <a:rPr lang="zh-CN" altLang="en-US" sz="1200">
                <a:solidFill>
                  <a:schemeClr val="tx2">
                    <a:lumMod val="75000"/>
                  </a:schemeClr>
                </a:solidFill>
                <a:latin typeface="Arial" panose="020B0604020202020204" pitchFamily="34" charset="0"/>
                <a:cs typeface="Arial" panose="020B0604020202020204" pitchFamily="34" charset="0"/>
                <a:sym typeface="+mn-ea"/>
              </a:rPr>
              <a:t>将代币化迪拜房地产开发商 MAG Group 价值 5 亿美元的资产。首批代币化资产包括位于迪拜 Meydan 的住宅项目 Keturah Reserve 和价值 7500 万美元的 Ritz-Carlton Residences, Dubai, Creekside 府邸。投资者将通过稳定币和 Mantra 的 OM 代币获得收益，预计稳定币收益率为 8%，并额外获得 OM 代币。</a:t>
            </a:r>
            <a:endParaRPr lang="zh-CN" altLang="en-US" sz="1200">
              <a:solidFill>
                <a:schemeClr val="tx2">
                  <a:lumMod val="75000"/>
                </a:schemeClr>
              </a:solidFill>
              <a:latin typeface="Arial" panose="020B0604020202020204" pitchFamily="34" charset="0"/>
              <a:cs typeface="Arial" panose="020B0604020202020204" pitchFamily="34" charset="0"/>
              <a:sym typeface="+mn-ea"/>
            </a:endParaRPr>
          </a:p>
          <a:p>
            <a:pPr indent="0" algn="l">
              <a:lnSpc>
                <a:spcPct val="150000"/>
              </a:lnSpc>
              <a:buClr>
                <a:srgbClr val="FF9001"/>
              </a:buClr>
              <a:buFont typeface="Wingdings" panose="05000000000000000000" pitchFamily="2" charset="2"/>
              <a:buNone/>
              <a:defRPr sz="1400"/>
            </a:pPr>
            <a:endParaRPr sz="1200" dirty="0" smtClean="0">
              <a:solidFill>
                <a:schemeClr val="tx1"/>
              </a:solidFill>
              <a:latin typeface="Arial" panose="020B0604020202020204" pitchFamily="34" charset="0"/>
              <a:ea typeface="Arial" panose="020B0604020202020204" pitchFamily="34" charset="0"/>
            </a:endParaRPr>
          </a:p>
        </p:txBody>
      </p:sp>
      <p:sp>
        <p:nvSpPr>
          <p:cNvPr id="18" name="文本框 17"/>
          <p:cNvSpPr txBox="1"/>
          <p:nvPr/>
        </p:nvSpPr>
        <p:spPr>
          <a:xfrm>
            <a:off x="853440" y="911860"/>
            <a:ext cx="10266680" cy="332168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indent="0" algn="l">
              <a:lnSpc>
                <a:spcPct val="150000"/>
              </a:lnSpc>
              <a:buClr>
                <a:srgbClr val="FF9001"/>
              </a:buClr>
              <a:buFont typeface="Wingdings" panose="05000000000000000000" pitchFamily="2" charset="2"/>
              <a:buNone/>
              <a:defRPr sz="1400"/>
            </a:pPr>
            <a:r>
              <a:rPr lang="zh-CN" altLang="en-US" sz="1400">
                <a:solidFill>
                  <a:schemeClr val="tx2">
                    <a:lumMod val="75000"/>
                  </a:schemeClr>
                </a:solidFill>
                <a:latin typeface="Arial" panose="020B0604020202020204" pitchFamily="34" charset="0"/>
                <a:cs typeface="Arial" panose="020B0604020202020204" pitchFamily="34" charset="0"/>
              </a:rPr>
              <a:t>MANTRA Chain 是一条基于Cosmos </a:t>
            </a:r>
            <a:r>
              <a:rPr lang="en-US" altLang="zh-CN" sz="1400">
                <a:solidFill>
                  <a:schemeClr val="tx2">
                    <a:lumMod val="75000"/>
                  </a:schemeClr>
                </a:solidFill>
                <a:latin typeface="Arial" panose="020B0604020202020204" pitchFamily="34" charset="0"/>
                <a:cs typeface="Arial" panose="020B0604020202020204" pitchFamily="34" charset="0"/>
              </a:rPr>
              <a:t>SDK</a:t>
            </a:r>
            <a:r>
              <a:rPr lang="zh-CN" altLang="en-US" sz="1400">
                <a:solidFill>
                  <a:schemeClr val="tx2">
                    <a:lumMod val="75000"/>
                  </a:schemeClr>
                </a:solidFill>
                <a:latin typeface="Arial" panose="020B0604020202020204" pitchFamily="34" charset="0"/>
                <a:cs typeface="Arial" panose="020B0604020202020204" pitchFamily="34" charset="0"/>
              </a:rPr>
              <a:t>构建的区块链</a:t>
            </a:r>
            <a:r>
              <a:rPr lang="zh-CN" altLang="en-US" sz="1400">
                <a:solidFill>
                  <a:schemeClr val="tx2">
                    <a:lumMod val="75000"/>
                  </a:schemeClr>
                </a:solidFill>
                <a:latin typeface="Arial" panose="020B0604020202020204" pitchFamily="34" charset="0"/>
                <a:cs typeface="Arial" panose="020B0604020202020204" pitchFamily="34" charset="0"/>
              </a:rPr>
              <a:t>网络，它专注于将传统金融服务与去中心化的金融产品结合，将真实世界资产（RWA）代币化。 MANTRA Chain 注重监管合规性，与全球机构合作，确保代币化资产符合法律标准。</a:t>
            </a:r>
            <a:endParaRPr lang="zh-CN" altLang="en-US" sz="1400">
              <a:solidFill>
                <a:schemeClr val="tx2">
                  <a:lumMod val="75000"/>
                </a:schemeClr>
              </a:solidFill>
              <a:latin typeface="Arial" panose="020B0604020202020204" pitchFamily="34" charset="0"/>
              <a:cs typeface="Arial" panose="020B0604020202020204" pitchFamily="34" charset="0"/>
            </a:endParaRPr>
          </a:p>
          <a:p>
            <a:pPr marL="285750" indent="-285750" algn="l">
              <a:lnSpc>
                <a:spcPct val="150000"/>
              </a:lnSpc>
              <a:buClr>
                <a:srgbClr val="FF9001"/>
              </a:buClr>
              <a:buFont typeface="Wingdings" panose="05000000000000000000" pitchFamily="2" charset="2"/>
              <a:buChar char="ü"/>
              <a:defRPr sz="1400"/>
            </a:pPr>
            <a:endParaRPr lang="zh-CN" altLang="en-US" sz="1400">
              <a:solidFill>
                <a:schemeClr val="tx2">
                  <a:lumMod val="75000"/>
                </a:schemeClr>
              </a:solidFill>
              <a:latin typeface="Arial" panose="020B0604020202020204" pitchFamily="34" charset="0"/>
              <a:cs typeface="Arial" panose="020B0604020202020204" pitchFamily="34" charset="0"/>
            </a:endParaRPr>
          </a:p>
          <a:p>
            <a:pPr indent="0" algn="l">
              <a:lnSpc>
                <a:spcPct val="150000"/>
              </a:lnSpc>
              <a:buClr>
                <a:srgbClr val="FF9001"/>
              </a:buClr>
              <a:buFont typeface="Wingdings" panose="05000000000000000000" pitchFamily="2" charset="2"/>
              <a:buNone/>
              <a:defRPr sz="1400"/>
            </a:pPr>
            <a:r>
              <a:rPr lang="zh-CN" altLang="en-US" sz="1400">
                <a:solidFill>
                  <a:schemeClr val="tx2">
                    <a:lumMod val="75000"/>
                  </a:schemeClr>
                </a:solidFill>
                <a:latin typeface="Arial" panose="020B0604020202020204" pitchFamily="34" charset="0"/>
                <a:cs typeface="Arial" panose="020B0604020202020204" pitchFamily="34" charset="0"/>
              </a:rPr>
              <a:t>为用户和开发者提供了一套基础服务</a:t>
            </a:r>
            <a:r>
              <a:rPr lang="en-US" altLang="zh-CN" sz="1400">
                <a:solidFill>
                  <a:schemeClr val="tx2">
                    <a:lumMod val="75000"/>
                  </a:schemeClr>
                </a:solidFill>
                <a:latin typeface="Arial" panose="020B0604020202020204" pitchFamily="34" charset="0"/>
                <a:cs typeface="Arial" panose="020B0604020202020204" pitchFamily="34" charset="0"/>
              </a:rPr>
              <a:t>:</a:t>
            </a:r>
            <a:endParaRPr lang="zh-CN" altLang="en-US" sz="1400">
              <a:solidFill>
                <a:schemeClr val="tx2">
                  <a:lumMod val="75000"/>
                </a:schemeClr>
              </a:solidFill>
              <a:latin typeface="Arial" panose="020B0604020202020204" pitchFamily="34" charset="0"/>
              <a:cs typeface="Arial" panose="020B0604020202020204" pitchFamily="34" charset="0"/>
            </a:endParaRPr>
          </a:p>
          <a:p>
            <a:pPr indent="0" algn="l">
              <a:lnSpc>
                <a:spcPct val="150000"/>
              </a:lnSpc>
              <a:buClr>
                <a:srgbClr val="FF9001"/>
              </a:buClr>
              <a:buFont typeface="Wingdings" panose="05000000000000000000" pitchFamily="2" charset="2"/>
              <a:buNone/>
              <a:defRPr sz="1400"/>
            </a:pPr>
            <a:r>
              <a:rPr lang="zh-CN" altLang="en-US" sz="1400">
                <a:solidFill>
                  <a:schemeClr val="tx2">
                    <a:lumMod val="75000"/>
                  </a:schemeClr>
                </a:solidFill>
                <a:latin typeface="Arial" panose="020B0604020202020204" pitchFamily="34" charset="0"/>
                <a:cs typeface="Arial" panose="020B0604020202020204" pitchFamily="34" charset="0"/>
              </a:rPr>
              <a:t>1、MANTRA Compliance</a:t>
            </a:r>
            <a:r>
              <a:rPr lang="en-US" altLang="zh-CN" sz="1400">
                <a:solidFill>
                  <a:schemeClr val="tx2">
                    <a:lumMod val="75000"/>
                  </a:schemeClr>
                </a:solidFill>
                <a:latin typeface="Arial" panose="020B0604020202020204" pitchFamily="34" charset="0"/>
                <a:cs typeface="Arial" panose="020B0604020202020204" pitchFamily="34" charset="0"/>
              </a:rPr>
              <a:t> </a:t>
            </a:r>
            <a:r>
              <a:rPr lang="zh-CN" altLang="en-US" sz="1400">
                <a:solidFill>
                  <a:schemeClr val="tx2">
                    <a:lumMod val="75000"/>
                  </a:schemeClr>
                </a:solidFill>
                <a:latin typeface="Arial" panose="020B0604020202020204" pitchFamily="34" charset="0"/>
                <a:cs typeface="Arial" panose="020B0604020202020204" pitchFamily="34" charset="0"/>
              </a:rPr>
              <a:t>提供了一套工具和服务，帮助Web3平台符合加密货币交易和其他金融活动的各种监管要求，这包括KYC/KYB协议、AML/制裁筛查和交易监控等，确保了平台的合规性和安全性；</a:t>
            </a:r>
            <a:endParaRPr lang="zh-CN" altLang="en-US" sz="1400">
              <a:solidFill>
                <a:schemeClr val="tx2">
                  <a:lumMod val="75000"/>
                </a:schemeClr>
              </a:solidFill>
              <a:latin typeface="Arial" panose="020B0604020202020204" pitchFamily="34" charset="0"/>
              <a:cs typeface="Arial" panose="020B0604020202020204" pitchFamily="34" charset="0"/>
            </a:endParaRPr>
          </a:p>
          <a:p>
            <a:pPr indent="0" algn="l">
              <a:lnSpc>
                <a:spcPct val="150000"/>
              </a:lnSpc>
              <a:buClr>
                <a:srgbClr val="FF9001"/>
              </a:buClr>
              <a:buFont typeface="Wingdings" panose="05000000000000000000" pitchFamily="2" charset="2"/>
              <a:buNone/>
              <a:defRPr sz="1400"/>
            </a:pPr>
            <a:r>
              <a:rPr lang="en-US" altLang="zh-CN" sz="1400">
                <a:solidFill>
                  <a:schemeClr val="tx2">
                    <a:lumMod val="75000"/>
                  </a:schemeClr>
                </a:solidFill>
                <a:latin typeface="Arial" panose="020B0604020202020204" pitchFamily="34" charset="0"/>
                <a:cs typeface="Arial" panose="020B0604020202020204" pitchFamily="34" charset="0"/>
              </a:rPr>
              <a:t>2</a:t>
            </a:r>
            <a:r>
              <a:rPr lang="zh-CN" altLang="en-US" sz="1400">
                <a:solidFill>
                  <a:schemeClr val="tx2">
                    <a:lumMod val="75000"/>
                  </a:schemeClr>
                </a:solidFill>
                <a:latin typeface="Arial" panose="020B0604020202020204" pitchFamily="34" charset="0"/>
                <a:cs typeface="Arial" panose="020B0604020202020204" pitchFamily="34" charset="0"/>
              </a:rPr>
              <a:t>、MANTRA </a:t>
            </a:r>
            <a:r>
              <a:rPr lang="en-US" altLang="zh-CN" sz="1400">
                <a:solidFill>
                  <a:schemeClr val="tx2">
                    <a:lumMod val="75000"/>
                  </a:schemeClr>
                </a:solidFill>
                <a:latin typeface="Arial" panose="020B0604020202020204" pitchFamily="34" charset="0"/>
                <a:cs typeface="Arial" panose="020B0604020202020204" pitchFamily="34" charset="0"/>
              </a:rPr>
              <a:t> </a:t>
            </a:r>
            <a:r>
              <a:rPr lang="zh-CN" altLang="en-US" sz="1400">
                <a:solidFill>
                  <a:schemeClr val="tx2">
                    <a:lumMod val="75000"/>
                  </a:schemeClr>
                </a:solidFill>
                <a:latin typeface="Arial" panose="020B0604020202020204" pitchFamily="34" charset="0"/>
                <a:cs typeface="Arial" panose="020B0604020202020204" pitchFamily="34" charset="0"/>
              </a:rPr>
              <a:t>Assets</a:t>
            </a:r>
            <a:r>
              <a:rPr lang="en-US" altLang="zh-CN" sz="1400">
                <a:solidFill>
                  <a:schemeClr val="tx2">
                    <a:lumMod val="75000"/>
                  </a:schemeClr>
                </a:solidFill>
                <a:latin typeface="Arial" panose="020B0604020202020204" pitchFamily="34" charset="0"/>
                <a:cs typeface="Arial" panose="020B0604020202020204" pitchFamily="34" charset="0"/>
              </a:rPr>
              <a:t> </a:t>
            </a:r>
            <a:r>
              <a:rPr lang="zh-CN" altLang="en-US" sz="1400">
                <a:solidFill>
                  <a:schemeClr val="tx2">
                    <a:lumMod val="75000"/>
                  </a:schemeClr>
                </a:solidFill>
                <a:latin typeface="Arial" panose="020B0604020202020204" pitchFamily="34" charset="0"/>
                <a:cs typeface="Arial" panose="020B0604020202020204" pitchFamily="34" charset="0"/>
              </a:rPr>
              <a:t>提供了一个让企业、组织和个人可以</a:t>
            </a:r>
            <a:r>
              <a:rPr lang="zh-CN" altLang="en-US">
                <a:solidFill>
                  <a:schemeClr val="tx2">
                    <a:lumMod val="75000"/>
                  </a:schemeClr>
                </a:solidFill>
                <a:latin typeface="Arial" panose="020B0604020202020204" pitchFamily="34" charset="0"/>
                <a:cs typeface="Arial" panose="020B0604020202020204" pitchFamily="34" charset="0"/>
                <a:sym typeface="+mn-ea"/>
              </a:rPr>
              <a:t>安全、高效地创建、发行、分发和管理自己的数字资产的平台</a:t>
            </a:r>
            <a:r>
              <a:rPr lang="zh-CN" altLang="en-US" sz="1400">
                <a:solidFill>
                  <a:schemeClr val="tx2">
                    <a:lumMod val="75000"/>
                  </a:schemeClr>
                </a:solidFill>
                <a:latin typeface="Arial" panose="020B0604020202020204" pitchFamily="34" charset="0"/>
                <a:cs typeface="Arial" panose="020B0604020202020204" pitchFamily="34" charset="0"/>
              </a:rPr>
              <a:t>，并提供了灵活的访问控制和权限管理功能，包括追踪代币所有权、授予或撤销权限以及将其转让给他人的能力</a:t>
            </a:r>
            <a:r>
              <a:rPr lang="zh-CN" altLang="en-US">
                <a:solidFill>
                  <a:schemeClr val="tx2">
                    <a:lumMod val="75000"/>
                  </a:schemeClr>
                </a:solidFill>
                <a:latin typeface="Arial" panose="020B0604020202020204" pitchFamily="34" charset="0"/>
                <a:cs typeface="Arial" panose="020B0604020202020204" pitchFamily="34" charset="0"/>
                <a:sym typeface="+mn-ea"/>
              </a:rPr>
              <a:t>，</a:t>
            </a:r>
            <a:r>
              <a:rPr lang="zh-CN" altLang="en-US" sz="1400">
                <a:solidFill>
                  <a:schemeClr val="tx2">
                    <a:lumMod val="75000"/>
                  </a:schemeClr>
                </a:solidFill>
                <a:latin typeface="Arial" panose="020B0604020202020204" pitchFamily="34" charset="0"/>
                <a:cs typeface="Arial" panose="020B0604020202020204" pitchFamily="34" charset="0"/>
              </a:rPr>
              <a:t>还可以自动化某些流程，如向代币持有者分配股息</a:t>
            </a:r>
            <a:r>
              <a:rPr lang="zh-CN" altLang="en-US">
                <a:solidFill>
                  <a:schemeClr val="tx2">
                    <a:lumMod val="75000"/>
                  </a:schemeClr>
                </a:solidFill>
                <a:latin typeface="Arial" panose="020B0604020202020204" pitchFamily="34" charset="0"/>
                <a:cs typeface="Arial" panose="020B0604020202020204" pitchFamily="34" charset="0"/>
                <a:sym typeface="+mn-ea"/>
              </a:rPr>
              <a:t>；</a:t>
            </a:r>
            <a:endParaRPr lang="zh-CN" altLang="en-US" sz="1400">
              <a:solidFill>
                <a:schemeClr val="tx2">
                  <a:lumMod val="75000"/>
                </a:schemeClr>
              </a:solidFill>
              <a:latin typeface="Arial" panose="020B0604020202020204" pitchFamily="34" charset="0"/>
              <a:cs typeface="Arial" panose="020B0604020202020204" pitchFamily="34" charset="0"/>
            </a:endParaRPr>
          </a:p>
          <a:p>
            <a:pPr indent="0" algn="l">
              <a:lnSpc>
                <a:spcPct val="150000"/>
              </a:lnSpc>
              <a:buClr>
                <a:srgbClr val="FF9001"/>
              </a:buClr>
              <a:buFont typeface="Wingdings" panose="05000000000000000000" pitchFamily="2" charset="2"/>
              <a:buNone/>
              <a:defRPr sz="1400"/>
            </a:pPr>
            <a:r>
              <a:rPr lang="en-US" altLang="zh-CN" sz="1400">
                <a:solidFill>
                  <a:schemeClr val="tx2">
                    <a:lumMod val="75000"/>
                  </a:schemeClr>
                </a:solidFill>
                <a:latin typeface="Arial" panose="020B0604020202020204" pitchFamily="34" charset="0"/>
                <a:cs typeface="Arial" panose="020B0604020202020204" pitchFamily="34" charset="0"/>
              </a:rPr>
              <a:t>3</a:t>
            </a:r>
            <a:r>
              <a:rPr lang="zh-CN" altLang="en-US" sz="1400">
                <a:solidFill>
                  <a:schemeClr val="tx2">
                    <a:lumMod val="75000"/>
                  </a:schemeClr>
                </a:solidFill>
                <a:latin typeface="Arial" panose="020B0604020202020204" pitchFamily="34" charset="0"/>
                <a:cs typeface="Arial" panose="020B0604020202020204" pitchFamily="34" charset="0"/>
              </a:rPr>
              <a:t>、MANTRA DEX 提供了自动化做市商（AMM）服务，为投资者提供了一个快速、安全、高效的资产交易市场</a:t>
            </a:r>
            <a:r>
              <a:rPr lang="zh-CN" altLang="en-US">
                <a:solidFill>
                  <a:schemeClr val="tx2">
                    <a:lumMod val="75000"/>
                  </a:schemeClr>
                </a:solidFill>
                <a:latin typeface="Arial" panose="020B0604020202020204" pitchFamily="34" charset="0"/>
                <a:cs typeface="Arial" panose="020B0604020202020204" pitchFamily="34" charset="0"/>
                <a:sym typeface="+mn-ea"/>
              </a:rPr>
              <a:t>；</a:t>
            </a:r>
            <a:endParaRPr lang="zh-CN" altLang="en-US" sz="1400">
              <a:solidFill>
                <a:schemeClr val="tx2">
                  <a:lumMod val="75000"/>
                </a:schemeClr>
              </a:solidFill>
              <a:latin typeface="Arial" panose="020B0604020202020204" pitchFamily="34" charset="0"/>
              <a:cs typeface="Arial" panose="020B0604020202020204" pitchFamily="34" charset="0"/>
            </a:endParaRPr>
          </a:p>
        </p:txBody>
      </p:sp>
      <p:sp>
        <p:nvSpPr>
          <p:cNvPr id="26" name="文本框 25"/>
          <p:cNvSpPr txBox="1"/>
          <p:nvPr/>
        </p:nvSpPr>
        <p:spPr>
          <a:xfrm>
            <a:off x="853440" y="4326890"/>
            <a:ext cx="2660015" cy="470074"/>
          </a:xfrm>
          <a:prstGeom prst="roundRect">
            <a:avLst/>
          </a:prstGeom>
          <a:noFill/>
          <a:ln w="1905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t" anchorCtr="0">
            <a:spAutoFit/>
          </a:bodyPr>
          <a:p>
            <a:pPr algn="l">
              <a:lnSpc>
                <a:spcPct val="150000"/>
              </a:lnSpc>
            </a:pPr>
            <a:r>
              <a:rPr lang="zh-CN" altLang="en-US" sz="1400" b="1" dirty="0" smtClean="0">
                <a:solidFill>
                  <a:schemeClr val="tx1"/>
                </a:solidFill>
                <a:latin typeface="Arial" panose="020B0604020202020204" pitchFamily="34" charset="0"/>
                <a:ea typeface="Arial" panose="020B0604020202020204" pitchFamily="34" charset="0"/>
              </a:rPr>
              <a:t>案例</a:t>
            </a:r>
            <a:endParaRPr lang="zh-CN" altLang="en-US" sz="1400" b="1" dirty="0" smtClean="0">
              <a:solidFill>
                <a:schemeClr val="tx1"/>
              </a:solidFill>
              <a:latin typeface="Arial" panose="020B0604020202020204" pitchFamily="34" charset="0"/>
              <a:ea typeface="Arial" panose="020B0604020202020204" pitchFamily="34" charset="0"/>
            </a:endParaRPr>
          </a:p>
        </p:txBody>
      </p:sp>
    </p:spTree>
  </p:cSld>
  <p:clrMapOvr>
    <a:masterClrMapping/>
  </p:clrMapOvr>
  <p:transition spd="med"/>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DIAGRAM_VIRTUALLY_FRAME" val="{&quot;height&quot;:124.7,&quot;left&quot;:64.55,&quot;top&quot;:369.55,&quot;width&quot;:859.9}"/>
</p:tagLst>
</file>

<file path=ppt/tags/tag64.xml><?xml version="1.0" encoding="utf-8"?>
<p:tagLst xmlns:p="http://schemas.openxmlformats.org/presentationml/2006/main">
  <p:tag name="KSO_WM_DIAGRAM_VIRTUALLY_FRAME" val="{&quot;height&quot;:124.7,&quot;left&quot;:64.55,&quot;top&quot;:369.55,&quot;width&quot;:859.9}"/>
</p:tagLst>
</file>

<file path=ppt/tags/tag65.xml><?xml version="1.0" encoding="utf-8"?>
<p:tagLst xmlns:p="http://schemas.openxmlformats.org/presentationml/2006/main">
  <p:tag name="KSO_WM_DIAGRAM_VIRTUALLY_FRAME" val="{&quot;height&quot;:124.7,&quot;left&quot;:64.55,&quot;top&quot;:369.55,&quot;width&quot;:859.9}"/>
</p:tagLst>
</file>

<file path=ppt/tags/tag66.xml><?xml version="1.0" encoding="utf-8"?>
<p:tagLst xmlns:p="http://schemas.openxmlformats.org/presentationml/2006/main">
  <p:tag name="KSO_WM_DIAGRAM_VIRTUALLY_FRAME" val="{&quot;height&quot;:124.7,&quot;left&quot;:64.55,&quot;top&quot;:369.55,&quot;width&quot;:859.9}"/>
</p:tagLst>
</file>

<file path=ppt/tags/tag67.xml><?xml version="1.0" encoding="utf-8"?>
<p:tagLst xmlns:p="http://schemas.openxmlformats.org/presentationml/2006/main">
  <p:tag name="KSO_WM_DIAGRAM_VIRTUALLY_FRAME" val="{&quot;height&quot;:124.7,&quot;left&quot;:64.55,&quot;top&quot;:369.55,&quot;width&quot;:859.9}"/>
</p:tagLst>
</file>

<file path=ppt/tags/tag68.xml><?xml version="1.0" encoding="utf-8"?>
<p:tagLst xmlns:p="http://schemas.openxmlformats.org/presentationml/2006/main">
  <p:tag name="KSO_WM_DIAGRAM_VIRTUALLY_FRAME" val="{&quot;height&quot;:124.7,&quot;left&quot;:64.55,&quot;top&quot;:369.55,&quot;width&quot;:859.9}"/>
</p:tagLst>
</file>

<file path=ppt/tags/tag69.xml><?xml version="1.0" encoding="utf-8"?>
<p:tagLst xmlns:p="http://schemas.openxmlformats.org/presentationml/2006/main">
  <p:tag name="KSO_WM_DIAGRAM_VIRTUALLY_FRAME" val="{&quot;height&quot;:124.7,&quot;left&quot;:64.55,&quot;top&quot;:369.55,&quot;width&quot;:859.9}"/>
</p:tagLst>
</file>

<file path=ppt/tags/tag70.xml><?xml version="1.0" encoding="utf-8"?>
<p:tagLst xmlns:p="http://schemas.openxmlformats.org/presentationml/2006/main">
  <p:tag name="KSO_WM_DIAGRAM_VIRTUALLY_FRAME" val="{&quot;height&quot;:124.7,&quot;left&quot;:64.55,&quot;top&quot;:369.55,&quot;width&quot;:859.9}"/>
</p:tagLst>
</file>

<file path=ppt/tags/tag71.xml><?xml version="1.0" encoding="utf-8"?>
<p:tagLst xmlns:p="http://schemas.openxmlformats.org/presentationml/2006/main">
  <p:tag name="KSO_WM_DIAGRAM_VIRTUALLY_FRAME" val="{&quot;height&quot;:363.25,&quot;left&quot;:47.3,&quot;top&quot;:122.85,&quot;width&quot;:862.3}"/>
</p:tagLst>
</file>

<file path=ppt/tags/tag72.xml><?xml version="1.0" encoding="utf-8"?>
<p:tagLst xmlns:p="http://schemas.openxmlformats.org/presentationml/2006/main">
  <p:tag name="KSO_WM_DIAGRAM_VIRTUALLY_FRAME" val="{&quot;height&quot;:363.25,&quot;left&quot;:47.3,&quot;top&quot;:122.85,&quot;width&quot;:862.3}"/>
</p:tagLst>
</file>

<file path=ppt/tags/tag73.xml><?xml version="1.0" encoding="utf-8"?>
<p:tagLst xmlns:p="http://schemas.openxmlformats.org/presentationml/2006/main">
  <p:tag name="KSO_WM_DIAGRAM_VIRTUALLY_FRAME" val="{&quot;height&quot;:363.25,&quot;left&quot;:47.3,&quot;top&quot;:122.85,&quot;width&quot;:862.3}"/>
</p:tagLst>
</file>

<file path=ppt/tags/tag74.xml><?xml version="1.0" encoding="utf-8"?>
<p:tagLst xmlns:p="http://schemas.openxmlformats.org/presentationml/2006/main">
  <p:tag name="KSO_WM_DIAGRAM_VIRTUALLY_FRAME" val="{&quot;height&quot;:363.25,&quot;left&quot;:47.3,&quot;top&quot;:122.85,&quot;width&quot;:862.3}"/>
</p:tagLst>
</file>

<file path=ppt/tags/tag75.xml><?xml version="1.0" encoding="utf-8"?>
<p:tagLst xmlns:p="http://schemas.openxmlformats.org/presentationml/2006/main">
  <p:tag name="commondata" val="eyJoZGlkIjoiMjY4ZDBkYTg1MmE3MGUzMWE1ZmNiMTg4NmNhYmNjNDg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3582</Words>
  <Application>WPS 演示</Application>
  <PresentationFormat>宽屏</PresentationFormat>
  <Paragraphs>91</Paragraphs>
  <Slides>6</Slides>
  <Notes>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6</vt:i4>
      </vt:variant>
    </vt:vector>
  </HeadingPairs>
  <TitlesOfParts>
    <vt:vector size="18" baseType="lpstr">
      <vt:lpstr>Arial</vt:lpstr>
      <vt:lpstr>宋体</vt:lpstr>
      <vt:lpstr>Wingdings</vt:lpstr>
      <vt:lpstr>Wingdings</vt:lpstr>
      <vt:lpstr>Arial</vt:lpstr>
      <vt:lpstr>微软雅黑</vt:lpstr>
      <vt:lpstr>Source Han Sans CN Medium</vt:lpstr>
      <vt:lpstr>Segoe Print</vt:lpstr>
      <vt:lpstr>Arial Unicode MS</vt:lpstr>
      <vt:lpstr>Calibri</vt:lpstr>
      <vt:lpstr>system-ui</vt:lpstr>
      <vt:lpstr>WPS</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麦</cp:lastModifiedBy>
  <cp:revision>159</cp:revision>
  <dcterms:created xsi:type="dcterms:W3CDTF">2019-06-19T02:08:00Z</dcterms:created>
  <dcterms:modified xsi:type="dcterms:W3CDTF">2024-09-09T13:40:23Z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2052-12.1.0.17857</vt:lpwstr>
  </property>
  <property fmtid="{D5CDD505-2E9C-101B-9397-08002B2CF9AE}" pid="3" name="ICV">
    <vt:lpwstr>8BCF6D13B70D48C3BC925C12822B0E03_11</vt:lpwstr>
  </property>
</Properties>
</file>